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27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pos="3120">
          <p15:clr>
            <a:srgbClr val="A4A3A4"/>
          </p15:clr>
        </p15:guide>
        <p15:guide id="5" pos="172">
          <p15:clr>
            <a:srgbClr val="A4A3A4"/>
          </p15:clr>
        </p15:guide>
        <p15:guide id="6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87176" autoAdjust="0"/>
  </p:normalViewPr>
  <p:slideViewPr>
    <p:cSldViewPr showGuides="1">
      <p:cViewPr varScale="1">
        <p:scale>
          <a:sx n="114" d="100"/>
          <a:sy n="114" d="100"/>
        </p:scale>
        <p:origin x="1627" y="302"/>
      </p:cViewPr>
      <p:guideLst>
        <p:guide orient="horz" pos="2160"/>
        <p:guide orient="horz" pos="527"/>
        <p:guide orient="horz" pos="3974"/>
        <p:guide pos="3120"/>
        <p:guide pos="172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864" y="10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LG CNS</c:v>
                </c:pt>
              </c:strCache>
            </c:strRef>
          </c:tx>
          <c:spPr>
            <a:solidFill>
              <a:srgbClr val="A50034"/>
            </a:solidFill>
          </c:spPr>
          <c:cat>
            <c:strRef>
              <c:f>Sheet1!$A$2:$A$6</c:f>
              <c:strCache>
                <c:ptCount val="5"/>
                <c:pt idx="0">
                  <c:v>자동화 수준</c:v>
                </c:pt>
                <c:pt idx="1">
                  <c:v>데이터 활용</c:v>
                </c:pt>
                <c:pt idx="2">
                  <c:v>실시간성</c:v>
                </c:pt>
                <c:pt idx="3">
                  <c:v>AI 제품 다양성</c:v>
                </c:pt>
                <c:pt idx="4">
                  <c:v>성과 입증도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7</c:v>
                </c:pt>
                <c:pt idx="2">
                  <c:v>7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A4-49D0-9A51-DEE960E11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 SDI</c:v>
                </c:pt>
              </c:strCache>
            </c:strRef>
          </c:tx>
          <c:spPr>
            <a:solidFill>
              <a:srgbClr val="1428A0"/>
            </a:solidFill>
          </c:spPr>
          <c:cat>
            <c:strRef>
              <c:f>Sheet1!$A$2:$A$6</c:f>
              <c:strCache>
                <c:ptCount val="5"/>
                <c:pt idx="0">
                  <c:v>자동화 수준</c:v>
                </c:pt>
                <c:pt idx="1">
                  <c:v>데이터 활용</c:v>
                </c:pt>
                <c:pt idx="2">
                  <c:v>실시간성</c:v>
                </c:pt>
                <c:pt idx="3">
                  <c:v>AI 제품 다양성</c:v>
                </c:pt>
                <c:pt idx="4">
                  <c:v>성과 입증도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A4-49D0-9A51-DEE960E11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SK ON</c:v>
                </c:pt>
              </c:strCache>
            </c:strRef>
          </c:tx>
          <c:spPr>
            <a:solidFill>
              <a:srgbClr val="F7B500"/>
            </a:solidFill>
          </c:spPr>
          <c:cat>
            <c:strRef>
              <c:f>Sheet1!$A$2:$A$6</c:f>
              <c:strCache>
                <c:ptCount val="5"/>
                <c:pt idx="0">
                  <c:v>자동화 수준</c:v>
                </c:pt>
                <c:pt idx="1">
                  <c:v>데이터 활용</c:v>
                </c:pt>
                <c:pt idx="2">
                  <c:v>실시간성</c:v>
                </c:pt>
                <c:pt idx="3">
                  <c:v>AI 제품 다양성</c:v>
                </c:pt>
                <c:pt idx="4">
                  <c:v>성과 입증도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</c:v>
                </c:pt>
                <c:pt idx="1">
                  <c:v>7</c:v>
                </c:pt>
                <c:pt idx="2">
                  <c:v>5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A4-49D0-9A51-DEE960E11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2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865B8-6288-4184-A9BF-A3164421EED3}" type="datetimeFigureOut">
              <a:rPr lang="ko-KR" altLang="en-US" smtClean="0"/>
              <a:pPr/>
              <a:t>2026-03-31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A01B-4B59-42FA-83E5-06C4C29136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05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1" descr="SL_ppt_C"/>
          <p:cNvPicPr>
            <a:picLocks noChangeArrowheads="1"/>
          </p:cNvPicPr>
          <p:nvPr userDrawn="1"/>
        </p:nvPicPr>
        <p:blipFill>
          <a:blip r:embed="rId2" cstate="print"/>
          <a:srcRect b="1047"/>
          <a:stretch>
            <a:fillRect/>
          </a:stretch>
        </p:blipFill>
        <p:spPr bwMode="auto">
          <a:xfrm>
            <a:off x="1" y="0"/>
            <a:ext cx="99036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2000" y="1584000"/>
            <a:ext cx="9396000" cy="811367"/>
          </a:xfrm>
        </p:spPr>
        <p:txBody>
          <a:bodyPr lIns="36000" rIns="36000"/>
          <a:lstStyle>
            <a:lvl1pPr algn="ctr">
              <a:defRPr sz="4800" b="1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0000" y="3886203"/>
            <a:ext cx="7020000" cy="4420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9" name="Picture 57" descr="SL심벌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640001" y="5940000"/>
            <a:ext cx="97948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>
            <a:extLst>
              <a:ext uri="{FF2B5EF4-FFF2-40B4-BE49-F238E27FC236}">
                <a16:creationId xmlns:a16="http://schemas.microsoft.com/office/drawing/2014/main" id="{22FF4D6A-8883-FDBA-4A75-DA668F062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27" y="84623"/>
            <a:ext cx="9396000" cy="411257"/>
          </a:xfrm>
          <a:prstGeom prst="rect">
            <a:avLst/>
          </a:prstGeom>
        </p:spPr>
        <p:txBody>
          <a:bodyPr vert="horz" lIns="36000" tIns="36000" rIns="36000" bIns="36000" rtlCol="0" anchor="t" anchorCtr="0">
            <a:sp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내용 개체 틀 3"/>
          <p:cNvSpPr>
            <a:spLocks noGrp="1"/>
          </p:cNvSpPr>
          <p:nvPr>
            <p:ph sz="quarter" idx="10" hasCustomPrompt="1"/>
          </p:nvPr>
        </p:nvSpPr>
        <p:spPr>
          <a:xfrm>
            <a:off x="251999" y="715849"/>
            <a:ext cx="9415728" cy="5521464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 sz="2000" b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540000" indent="-285750">
              <a:lnSpc>
                <a:spcPct val="100000"/>
              </a:lnSpc>
              <a:buFont typeface="Wingdings" panose="05000000000000000000" pitchFamily="2" charset="2"/>
              <a:buChar char="l"/>
              <a:defRPr sz="1800" b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720000" indent="-228600">
              <a:buFont typeface="현대하모니 L" panose="02020603020101020101" pitchFamily="18" charset="-127"/>
              <a:buChar char="○"/>
              <a:defRPr sz="16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900000" indent="-171450" algn="l">
              <a:buFont typeface="Arial" panose="020B0604020202020204" pitchFamily="34" charset="0"/>
              <a:buChar char="■"/>
              <a:defRPr sz="14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080000" indent="-228600">
              <a:buFont typeface="Arial" panose="020B0604020202020204" pitchFamily="34" charset="0"/>
              <a:buChar char="□"/>
              <a:defRPr sz="12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  <a:p>
            <a:pPr lvl="1"/>
            <a:r>
              <a:rPr lang="ko-KR" altLang="en-US" dirty="0" err="1"/>
              <a:t>ㅇ</a:t>
            </a:r>
            <a:endParaRPr lang="en-US" altLang="ko-KR" dirty="0"/>
          </a:p>
          <a:p>
            <a:pPr lvl="2"/>
            <a:r>
              <a:rPr lang="ko-KR" altLang="en-US" dirty="0" err="1"/>
              <a:t>ㅇ</a:t>
            </a:r>
            <a:endParaRPr lang="en-US" altLang="ko-KR" dirty="0"/>
          </a:p>
          <a:p>
            <a:pPr lvl="3"/>
            <a:r>
              <a:rPr lang="ko-KR" altLang="en-US" dirty="0" err="1"/>
              <a:t>ㅇ</a:t>
            </a:r>
            <a:endParaRPr lang="en-US" altLang="ko-KR" dirty="0"/>
          </a:p>
          <a:p>
            <a:pPr lvl="4"/>
            <a:r>
              <a:rPr lang="ko-KR" altLang="en-US" dirty="0" err="1"/>
              <a:t>ㅇ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(페이지 번호 삭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5328000" y="6552000"/>
            <a:ext cx="1080000" cy="2520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71727" y="84623"/>
            <a:ext cx="9396000" cy="411257"/>
          </a:xfrm>
          <a:prstGeom prst="rect">
            <a:avLst/>
          </a:prstGeom>
        </p:spPr>
        <p:txBody>
          <a:bodyPr vert="horz" lIns="36000" tIns="36000" rIns="36000" bIns="36000" rtlCol="0" anchor="t" anchorCtr="0">
            <a:sp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5328000" y="6552000"/>
            <a:ext cx="1170000" cy="252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679B8-E508-496F-9374-50C23453982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 00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52000" y="612000"/>
            <a:ext cx="939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271727" y="6516000"/>
            <a:ext cx="93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바닥글 개체 틀 4"/>
          <p:cNvSpPr txBox="1">
            <a:spLocks/>
          </p:cNvSpPr>
          <p:nvPr userDrawn="1"/>
        </p:nvSpPr>
        <p:spPr>
          <a:xfrm>
            <a:off x="7308000" y="6552000"/>
            <a:ext cx="2340000" cy="252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연구개발본부</a:t>
            </a:r>
          </a:p>
        </p:txBody>
      </p:sp>
      <p:pic>
        <p:nvPicPr>
          <p:cNvPr id="12" name="Picture 18" descr="SL심벌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1685" y="232632"/>
            <a:ext cx="490042" cy="305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바닥글 개체 틀 4"/>
          <p:cNvSpPr txBox="1">
            <a:spLocks/>
          </p:cNvSpPr>
          <p:nvPr userDrawn="1"/>
        </p:nvSpPr>
        <p:spPr>
          <a:xfrm>
            <a:off x="251999" y="6534000"/>
            <a:ext cx="5040000" cy="288000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pitchFamily="34" charset="0"/>
              </a:rPr>
              <a:t>SL Corporation Confidential.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pitchFamily="34" charset="0"/>
              </a:rPr>
              <a:t>The Contents may only be passed on, used or made known with our express permission. All rights reserved.</a:t>
            </a:r>
          </a:p>
        </p:txBody>
      </p:sp>
      <p:sp>
        <p:nvSpPr>
          <p:cNvPr id="4" name="텍스트 개체 틀 2"/>
          <p:cNvSpPr>
            <a:spLocks noGrp="1"/>
          </p:cNvSpPr>
          <p:nvPr>
            <p:ph type="body" idx="1"/>
          </p:nvPr>
        </p:nvSpPr>
        <p:spPr>
          <a:xfrm>
            <a:off x="251999" y="715849"/>
            <a:ext cx="9396001" cy="288147"/>
          </a:xfrm>
          <a:prstGeom prst="rect">
            <a:avLst/>
          </a:prstGeom>
        </p:spPr>
        <p:txBody>
          <a:bodyPr vert="horz" wrap="square" lIns="108000" tIns="36000" rIns="108000" bIns="36000" rtlCol="0">
            <a:sp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1" hangingPunct="1">
        <a:spcBef>
          <a:spcPct val="0"/>
        </a:spcBef>
        <a:buNone/>
        <a:defRPr sz="2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ts val="0"/>
        </a:spcBef>
        <a:buClr>
          <a:schemeClr val="tx1"/>
        </a:buClr>
        <a:buFontTx/>
        <a:buNone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국내</a:t>
            </a:r>
            <a:r>
              <a:rPr dirty="0"/>
              <a:t> </a:t>
            </a:r>
            <a:r>
              <a:rPr dirty="0" err="1"/>
              <a:t>배터리</a:t>
            </a:r>
            <a:r>
              <a:rPr dirty="0"/>
              <a:t> 3사의 AI </a:t>
            </a:r>
            <a:r>
              <a:rPr dirty="0" err="1"/>
              <a:t>활용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</p:txBody>
      </p:sp>
      <p:sp>
        <p:nvSpPr>
          <p:cNvPr id="10" name="부제목 9">
            <a:extLst>
              <a:ext uri="{FF2B5EF4-FFF2-40B4-BE49-F238E27FC236}">
                <a16:creationId xmlns:a16="http://schemas.microsoft.com/office/drawing/2014/main" id="{F9D264AE-CA66-DD0C-0399-A75B424E8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2026. 03. 31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94AFAA-4252-60E5-C5E3-D010602D1D54}"/>
              </a:ext>
            </a:extLst>
          </p:cNvPr>
          <p:cNvSpPr txBox="1"/>
          <p:nvPr/>
        </p:nvSpPr>
        <p:spPr>
          <a:xfrm>
            <a:off x="6531701" y="360000"/>
            <a:ext cx="3097103" cy="272758"/>
          </a:xfrm>
          <a:prstGeom prst="rect">
            <a:avLst/>
          </a:prstGeom>
          <a:noFill/>
        </p:spPr>
        <p:txBody>
          <a:bodyPr wrap="none" lIns="108000" tIns="36000" rIns="108000" bIns="36000" rtlCol="0">
            <a:spAutoFit/>
          </a:bodyPr>
          <a:lstStyle/>
          <a:p>
            <a:pPr algn="r"/>
            <a:r>
              <a:rPr lang="ko-KR" altLang="en-US" sz="13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□ 의사결정    □ 보고    ■ 정보공유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203349-4A5C-9089-5DDE-4DC28F4AD716}"/>
              </a:ext>
            </a:extLst>
          </p:cNvPr>
          <p:cNvSpPr txBox="1"/>
          <p:nvPr/>
        </p:nvSpPr>
        <p:spPr>
          <a:xfrm>
            <a:off x="1609310" y="5985284"/>
            <a:ext cx="6681380" cy="442035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pPr algn="ctr"/>
            <a:r>
              <a:rPr lang="ko-KR" altLang="en-US" sz="2400" b="1" dirty="0">
                <a:latin typeface="맑은 고딕" pitchFamily="50" charset="-127"/>
                <a:ea typeface="맑은 고딕" pitchFamily="50" charset="-127"/>
              </a:rPr>
              <a:t>미래융합설계센터 알고리즘개발팀 강민규 선임</a:t>
            </a:r>
            <a:endParaRPr lang="ko-KR" altLang="en-US" sz="2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180003"/>
            <a:ext cx="9396000" cy="442035"/>
          </a:xfrm>
        </p:spPr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rPr lang="ko-KR" altLang="en-US" dirty="0"/>
              <a:t>배터리 </a:t>
            </a:r>
            <a:r>
              <a:rPr lang="en-US" dirty="0"/>
              <a:t>3</a:t>
            </a:r>
            <a:r>
              <a:rPr lang="ko-KR" altLang="en-US" dirty="0"/>
              <a:t>사 </a:t>
            </a:r>
            <a:r>
              <a:rPr lang="en-US" altLang="ko-KR" dirty="0"/>
              <a:t>AI </a:t>
            </a:r>
            <a:r>
              <a:rPr lang="ko-KR" altLang="en-US" dirty="0"/>
              <a:t>핵심 전략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46030" y="682752"/>
            <a:ext cx="73152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rPr dirty="0" err="1"/>
              <a:t>AI를</a:t>
            </a:r>
            <a:r>
              <a:rPr dirty="0"/>
              <a:t> </a:t>
            </a:r>
            <a:r>
              <a:rPr dirty="0" err="1"/>
              <a:t>활용하여</a:t>
            </a:r>
            <a:r>
              <a:rPr dirty="0"/>
              <a:t> </a:t>
            </a:r>
            <a:r>
              <a:rPr dirty="0" err="1"/>
              <a:t>만들어내는</a:t>
            </a:r>
            <a:r>
              <a:rPr dirty="0"/>
              <a:t> </a:t>
            </a:r>
            <a:r>
              <a:rPr dirty="0" err="1"/>
              <a:t>결과물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46030" y="1292534"/>
            <a:ext cx="2971800" cy="1570134"/>
          </a:xfrm>
          <a:prstGeom prst="roundRect">
            <a:avLst>
              <a:gd name="adj" fmla="val 5000"/>
            </a:avLst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669190" y="1155374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0622" y="1402262"/>
            <a:ext cx="2642616" cy="227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DDDDD"/>
                </a:solidFill>
                <a:latin typeface="맑은 고딕"/>
              </a:defRPr>
            </a:pPr>
            <a:r>
              <a:rPr sz="1400" dirty="0"/>
              <a:t>LG CNS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0622" y="1688855"/>
            <a:ext cx="2642616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AI </a:t>
            </a:r>
            <a:r>
              <a:rPr dirty="0" err="1"/>
              <a:t>탑재</a:t>
            </a:r>
            <a:r>
              <a:rPr dirty="0"/>
              <a:t> </a:t>
            </a:r>
            <a:r>
              <a:rPr dirty="0" err="1"/>
              <a:t>장비</a:t>
            </a:r>
            <a:r>
              <a:rPr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622" y="2089135"/>
            <a:ext cx="2642616" cy="61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EEEEE"/>
                </a:solidFill>
                <a:latin typeface="맑은 고딕"/>
              </a:defRPr>
            </a:pPr>
            <a:r>
              <a:rPr lang="en-US" dirty="0"/>
              <a:t>AI</a:t>
            </a:r>
            <a:r>
              <a:rPr lang="ko-KR" altLang="en-US" dirty="0"/>
              <a:t>가 </a:t>
            </a:r>
            <a:r>
              <a:rPr dirty="0" err="1"/>
              <a:t>배터리</a:t>
            </a:r>
            <a:r>
              <a:rPr dirty="0"/>
              <a:t> </a:t>
            </a:r>
            <a:r>
              <a:rPr lang="ko-KR" altLang="en-US" dirty="0"/>
              <a:t>실험 설계</a:t>
            </a:r>
            <a:r>
              <a:rPr lang="en-US" altLang="ko-KR" dirty="0"/>
              <a:t>, </a:t>
            </a:r>
            <a:r>
              <a:rPr lang="ko-KR" altLang="en-US" dirty="0"/>
              <a:t>활성화</a:t>
            </a:r>
            <a:r>
              <a:rPr lang="en-US" altLang="ko-KR" dirty="0"/>
              <a:t>, </a:t>
            </a:r>
            <a:r>
              <a:rPr lang="ko-KR" altLang="en-US" dirty="0"/>
              <a:t>폐배터리 방전까지 전 과정을 자동화</a:t>
            </a:r>
            <a:endParaRPr lang="en-US" altLang="ko-KR" dirty="0"/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EEEEE"/>
                </a:solidFill>
                <a:latin typeface="맑은 고딕"/>
              </a:defRPr>
            </a:pP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에이테크놀로지</a:t>
            </a:r>
            <a:r>
              <a:rPr lang="ko-KR" altLang="en-US" dirty="0">
                <a:sym typeface="Wingdings" panose="05000000000000000000" pitchFamily="2" charset="2"/>
              </a:rPr>
              <a:t> 공동개발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장비 </a:t>
            </a:r>
            <a:r>
              <a:rPr lang="en-US" altLang="ko-KR" dirty="0">
                <a:sym typeface="Wingdings" panose="05000000000000000000" pitchFamily="2" charset="2"/>
              </a:rPr>
              <a:t>20</a:t>
            </a:r>
            <a:r>
              <a:rPr lang="ko-KR" altLang="en-US" dirty="0">
                <a:sym typeface="Wingdings" panose="05000000000000000000" pitchFamily="2" charset="2"/>
              </a:rPr>
              <a:t>대 납품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3354990" y="1292534"/>
            <a:ext cx="2971800" cy="1570134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78150" y="1155374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9582" y="1402262"/>
            <a:ext cx="2642616" cy="227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DDDDD"/>
                </a:solidFill>
                <a:latin typeface="맑은 고딕"/>
              </a:defRPr>
            </a:pPr>
            <a:r>
              <a:rPr sz="1200" dirty="0"/>
              <a:t>Samsung SDI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9582" y="1688855"/>
            <a:ext cx="2642616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/>
              <a:t>배터리 진단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519582" y="2089135"/>
            <a:ext cx="2642616" cy="61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EEEEE"/>
                </a:solidFill>
                <a:latin typeface="맑은 고딕"/>
              </a:defRPr>
            </a:pPr>
            <a:r>
              <a:rPr dirty="0" err="1"/>
              <a:t>AI가</a:t>
            </a:r>
            <a:r>
              <a:rPr dirty="0"/>
              <a:t> 전 </a:t>
            </a:r>
            <a:r>
              <a:rPr dirty="0" err="1"/>
              <a:t>세계</a:t>
            </a:r>
            <a:r>
              <a:rPr dirty="0"/>
              <a:t> 1,400개 </a:t>
            </a:r>
            <a:r>
              <a:rPr dirty="0" err="1"/>
              <a:t>배터리</a:t>
            </a:r>
            <a:r>
              <a:rPr dirty="0"/>
              <a:t> </a:t>
            </a:r>
            <a:r>
              <a:rPr dirty="0" err="1"/>
              <a:t>현장을</a:t>
            </a:r>
            <a:r>
              <a:rPr dirty="0"/>
              <a:t> 24시간 </a:t>
            </a:r>
            <a:r>
              <a:rPr dirty="0" err="1"/>
              <a:t>감시하며</a:t>
            </a:r>
            <a:r>
              <a:rPr dirty="0"/>
              <a:t>,</a:t>
            </a:r>
            <a:r>
              <a:rPr lang="en-US" dirty="0"/>
              <a:t>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징후를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감지하여</a:t>
            </a:r>
            <a:r>
              <a:rPr dirty="0"/>
              <a:t> </a:t>
            </a:r>
            <a:r>
              <a:rPr dirty="0" err="1"/>
              <a:t>사고를</a:t>
            </a:r>
            <a:r>
              <a:rPr dirty="0"/>
              <a:t> </a:t>
            </a:r>
            <a:r>
              <a:rPr dirty="0" err="1"/>
              <a:t>예방</a:t>
            </a:r>
            <a:endParaRPr lang="en-US" dirty="0"/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EEEEE"/>
                </a:solidFill>
                <a:latin typeface="맑은 고딕"/>
              </a:defRPr>
            </a:pPr>
            <a:r>
              <a:rPr lang="en-US" dirty="0">
                <a:sym typeface="Wingdings" panose="05000000000000000000" pitchFamily="2" charset="2"/>
              </a:rPr>
              <a:t> 2026</a:t>
            </a:r>
            <a:r>
              <a:rPr lang="ko-KR" altLang="en-US" dirty="0">
                <a:sym typeface="Wingdings" panose="05000000000000000000" pitchFamily="2" charset="2"/>
              </a:rPr>
              <a:t>년 </a:t>
            </a:r>
            <a:r>
              <a:rPr lang="en-US" altLang="ko-KR" dirty="0">
                <a:sym typeface="Wingdings" panose="05000000000000000000" pitchFamily="2" charset="2"/>
              </a:rPr>
              <a:t>10</a:t>
            </a:r>
            <a:r>
              <a:rPr lang="ko-KR" altLang="en-US" dirty="0">
                <a:sym typeface="Wingdings" panose="05000000000000000000" pitchFamily="2" charset="2"/>
              </a:rPr>
              <a:t>월 상용화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463950" y="1292534"/>
            <a:ext cx="2971800" cy="1570134"/>
          </a:xfrm>
          <a:prstGeom prst="roundRect">
            <a:avLst>
              <a:gd name="adj" fmla="val 5000"/>
            </a:avLst>
          </a:prstGeom>
          <a:solidFill>
            <a:srgbClr val="F7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887110" y="1155374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8542" y="1402262"/>
            <a:ext cx="2642616" cy="227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rPr sz="1400" dirty="0"/>
              <a:t>SK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8542" y="1688855"/>
            <a:ext cx="2642616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2222"/>
                </a:solidFill>
                <a:latin typeface="맑은 고딕"/>
              </a:defRPr>
            </a:pPr>
            <a:r>
              <a:rPr lang="en-US" dirty="0"/>
              <a:t>AI </a:t>
            </a:r>
            <a:r>
              <a:rPr lang="ko-KR" altLang="en-US" dirty="0"/>
              <a:t>연구원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628542" y="2089135"/>
            <a:ext cx="2642616" cy="61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44444"/>
                </a:solidFill>
                <a:latin typeface="맑은 고딕"/>
              </a:defRPr>
            </a:pPr>
            <a:r>
              <a:rPr dirty="0"/>
              <a:t>AI</a:t>
            </a:r>
            <a:r>
              <a:rPr lang="ko-KR" altLang="en-US" dirty="0"/>
              <a:t>가</a:t>
            </a:r>
            <a:r>
              <a:rPr dirty="0"/>
              <a:t> </a:t>
            </a:r>
            <a:r>
              <a:rPr dirty="0" err="1"/>
              <a:t>배터리</a:t>
            </a:r>
            <a:r>
              <a:rPr dirty="0"/>
              <a:t> </a:t>
            </a:r>
            <a:r>
              <a:rPr dirty="0" err="1"/>
              <a:t>설계부터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, </a:t>
            </a:r>
            <a:r>
              <a:rPr dirty="0" err="1"/>
              <a:t>원가</a:t>
            </a:r>
            <a:r>
              <a:rPr dirty="0"/>
              <a:t> </a:t>
            </a:r>
            <a:r>
              <a:rPr dirty="0" err="1"/>
              <a:t>산출까지</a:t>
            </a:r>
            <a:br>
              <a:rPr dirty="0"/>
            </a:b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수행</a:t>
            </a:r>
            <a:endParaRPr lang="en-US" dirty="0"/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44444"/>
                </a:solidFill>
                <a:latin typeface="맑은 고딕"/>
              </a:defRPr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기간</a:t>
            </a:r>
            <a:r>
              <a:rPr dirty="0"/>
              <a:t> 1/3, </a:t>
            </a:r>
            <a:r>
              <a:rPr dirty="0" err="1"/>
              <a:t>원가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700배 </a:t>
            </a:r>
            <a:r>
              <a:rPr dirty="0" err="1"/>
              <a:t>향상</a:t>
            </a:r>
            <a:r>
              <a:rPr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030" y="3200952"/>
            <a:ext cx="9189720" cy="2433366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6030" y="3198130"/>
            <a:ext cx="45720" cy="2433366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0622" y="3284897"/>
            <a:ext cx="5486400" cy="300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3478"/>
                </a:solidFill>
                <a:latin typeface="맑은 고딕"/>
              </a:defRPr>
            </a:pPr>
            <a:r>
              <a:rPr sz="1600" dirty="0"/>
              <a:t>왜 </a:t>
            </a:r>
            <a:r>
              <a:rPr sz="1600" dirty="0" err="1"/>
              <a:t>배터리</a:t>
            </a:r>
            <a:r>
              <a:rPr sz="1600" dirty="0"/>
              <a:t> </a:t>
            </a:r>
            <a:r>
              <a:rPr sz="1600" dirty="0" err="1"/>
              <a:t>업계가</a:t>
            </a:r>
            <a:r>
              <a:rPr sz="1600" dirty="0"/>
              <a:t> </a:t>
            </a:r>
            <a:r>
              <a:rPr sz="1600" dirty="0" err="1"/>
              <a:t>AI를</a:t>
            </a:r>
            <a:r>
              <a:rPr sz="1600" dirty="0"/>
              <a:t> </a:t>
            </a:r>
            <a:r>
              <a:rPr sz="1600" dirty="0" err="1"/>
              <a:t>도입하고</a:t>
            </a:r>
            <a:r>
              <a:rPr sz="1600" dirty="0"/>
              <a:t> </a:t>
            </a:r>
            <a:r>
              <a:rPr sz="1600" dirty="0" err="1"/>
              <a:t>있는가</a:t>
            </a:r>
            <a:r>
              <a:rPr sz="1600" dirty="0"/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500" y="373987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412" y="3721588"/>
            <a:ext cx="3200400" cy="26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22222"/>
                </a:solidFill>
                <a:latin typeface="맑은 고딕"/>
              </a:defRPr>
            </a:pPr>
            <a:r>
              <a:rPr sz="1400" dirty="0" err="1"/>
              <a:t>개발</a:t>
            </a:r>
            <a:r>
              <a:rPr sz="1400" dirty="0"/>
              <a:t> </a:t>
            </a:r>
            <a:r>
              <a:rPr sz="1400" dirty="0" err="1"/>
              <a:t>기간</a:t>
            </a:r>
            <a:r>
              <a:rPr sz="1400" dirty="0"/>
              <a:t> </a:t>
            </a:r>
            <a:r>
              <a:rPr sz="1400" dirty="0" err="1"/>
              <a:t>압박</a:t>
            </a:r>
            <a:endParaRPr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891412" y="3993554"/>
            <a:ext cx="3794761" cy="24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rPr sz="1200" dirty="0" err="1"/>
              <a:t>전기차</a:t>
            </a:r>
            <a:r>
              <a:rPr sz="1200" dirty="0"/>
              <a:t> </a:t>
            </a:r>
            <a:r>
              <a:rPr sz="1200" dirty="0" err="1"/>
              <a:t>시장의</a:t>
            </a:r>
            <a:r>
              <a:rPr sz="1200" dirty="0"/>
              <a:t> </a:t>
            </a:r>
            <a:r>
              <a:rPr sz="1200" dirty="0" err="1"/>
              <a:t>폭발적</a:t>
            </a:r>
            <a:r>
              <a:rPr sz="1200" dirty="0"/>
              <a:t> </a:t>
            </a:r>
            <a:r>
              <a:rPr sz="1200" dirty="0" err="1"/>
              <a:t>성장으로</a:t>
            </a:r>
            <a:r>
              <a:rPr sz="1200" dirty="0"/>
              <a:t> </a:t>
            </a:r>
            <a:r>
              <a:rPr sz="1200" dirty="0" err="1"/>
              <a:t>신제품</a:t>
            </a:r>
            <a:r>
              <a:rPr lang="en-US" sz="1200" dirty="0"/>
              <a:t> </a:t>
            </a:r>
            <a:r>
              <a:rPr sz="1200" dirty="0" err="1"/>
              <a:t>출시</a:t>
            </a:r>
            <a:r>
              <a:rPr sz="1200" dirty="0"/>
              <a:t> </a:t>
            </a:r>
            <a:r>
              <a:rPr sz="1200" dirty="0" err="1"/>
              <a:t>주기가</a:t>
            </a:r>
            <a:r>
              <a:rPr sz="1200" dirty="0"/>
              <a:t> </a:t>
            </a:r>
            <a:r>
              <a:rPr sz="1200" dirty="0" err="1"/>
              <a:t>크게</a:t>
            </a:r>
            <a:r>
              <a:rPr sz="1200" dirty="0"/>
              <a:t> </a:t>
            </a:r>
            <a:r>
              <a:rPr sz="1200" dirty="0" err="1"/>
              <a:t>단축</a:t>
            </a:r>
            <a:endParaRPr sz="1200" dirty="0"/>
          </a:p>
        </p:txBody>
      </p:sp>
      <p:sp>
        <p:nvSpPr>
          <p:cNvPr id="25" name="Rounded Rectangle 24"/>
          <p:cNvSpPr/>
          <p:nvPr/>
        </p:nvSpPr>
        <p:spPr>
          <a:xfrm>
            <a:off x="5392463" y="37587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1375" y="3740448"/>
            <a:ext cx="3200400" cy="26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22222"/>
                </a:solidFill>
                <a:latin typeface="맑은 고딕"/>
              </a:defRPr>
            </a:pPr>
            <a:r>
              <a:rPr sz="1400" dirty="0" err="1"/>
              <a:t>안전성</a:t>
            </a:r>
            <a:r>
              <a:rPr sz="1400" dirty="0"/>
              <a:t> </a:t>
            </a:r>
            <a:r>
              <a:rPr sz="1400" dirty="0" err="1"/>
              <a:t>강화</a:t>
            </a:r>
            <a:endParaRPr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5831375" y="4012414"/>
            <a:ext cx="3840480" cy="24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rPr sz="1200" dirty="0"/>
              <a:t>ESS </a:t>
            </a:r>
            <a:r>
              <a:rPr sz="1200" dirty="0" err="1"/>
              <a:t>화재</a:t>
            </a:r>
            <a:r>
              <a:rPr sz="1200" dirty="0"/>
              <a:t> 등 </a:t>
            </a:r>
            <a:r>
              <a:rPr sz="1200" dirty="0" err="1"/>
              <a:t>안전</a:t>
            </a:r>
            <a:r>
              <a:rPr sz="1200" dirty="0"/>
              <a:t> </a:t>
            </a:r>
            <a:r>
              <a:rPr sz="1200" dirty="0" err="1"/>
              <a:t>사고</a:t>
            </a:r>
            <a:r>
              <a:rPr sz="1200" dirty="0"/>
              <a:t> </a:t>
            </a:r>
            <a:r>
              <a:rPr sz="1200" dirty="0" err="1"/>
              <a:t>예방에</a:t>
            </a:r>
            <a:r>
              <a:rPr sz="1200" dirty="0"/>
              <a:t> </a:t>
            </a:r>
            <a:r>
              <a:rPr sz="1200" dirty="0" err="1"/>
              <a:t>대한</a:t>
            </a:r>
            <a:r>
              <a:rPr lang="en-US" sz="1200" dirty="0"/>
              <a:t> </a:t>
            </a:r>
            <a:r>
              <a:rPr sz="1200" dirty="0" err="1"/>
              <a:t>사회적</a:t>
            </a:r>
            <a:r>
              <a:rPr sz="1200" dirty="0"/>
              <a:t> </a:t>
            </a:r>
            <a:r>
              <a:rPr sz="1200" dirty="0" err="1"/>
              <a:t>요구가</a:t>
            </a:r>
            <a:r>
              <a:rPr sz="1200" dirty="0"/>
              <a:t> </a:t>
            </a:r>
            <a:r>
              <a:rPr sz="1200" dirty="0" err="1"/>
              <a:t>높아</a:t>
            </a:r>
            <a:r>
              <a:rPr lang="ko-KR" altLang="en-US" sz="1200" dirty="0"/>
              <a:t>짐</a:t>
            </a:r>
            <a:endParaRPr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452500" y="47914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412" y="4773148"/>
            <a:ext cx="3200400" cy="26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22222"/>
                </a:solidFill>
                <a:latin typeface="맑은 고딕"/>
              </a:defRPr>
            </a:pPr>
            <a:r>
              <a:rPr sz="1400" dirty="0" err="1"/>
              <a:t>데이터</a:t>
            </a:r>
            <a:r>
              <a:rPr sz="1400" dirty="0"/>
              <a:t> </a:t>
            </a:r>
            <a:r>
              <a:rPr sz="1400" dirty="0" err="1"/>
              <a:t>폭증</a:t>
            </a:r>
            <a:endParaRPr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891412" y="5045114"/>
            <a:ext cx="4572000" cy="24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rPr sz="1200" dirty="0" err="1"/>
              <a:t>제조</a:t>
            </a:r>
            <a:r>
              <a:rPr sz="1200" dirty="0"/>
              <a:t> </a:t>
            </a:r>
            <a:r>
              <a:rPr sz="1200" dirty="0" err="1"/>
              <a:t>공정과</a:t>
            </a:r>
            <a:r>
              <a:rPr sz="1200" dirty="0"/>
              <a:t> </a:t>
            </a:r>
            <a:r>
              <a:rPr sz="1200" dirty="0" err="1"/>
              <a:t>운영</a:t>
            </a:r>
            <a:r>
              <a:rPr sz="1200" dirty="0"/>
              <a:t> </a:t>
            </a:r>
            <a:r>
              <a:rPr sz="1200" dirty="0" err="1"/>
              <a:t>현장에서</a:t>
            </a:r>
            <a:r>
              <a:rPr sz="1200" dirty="0"/>
              <a:t> </a:t>
            </a:r>
            <a:r>
              <a:rPr sz="1200" dirty="0" err="1"/>
              <a:t>사람이</a:t>
            </a:r>
            <a:r>
              <a:rPr sz="1200" dirty="0"/>
              <a:t> </a:t>
            </a:r>
            <a:r>
              <a:rPr sz="1200" dirty="0" err="1"/>
              <a:t>처리할</a:t>
            </a:r>
            <a:r>
              <a:rPr sz="1200" dirty="0"/>
              <a:t> 수</a:t>
            </a:r>
            <a:r>
              <a:rPr lang="en-US" sz="1200" dirty="0"/>
              <a:t> </a:t>
            </a:r>
            <a:r>
              <a:rPr sz="1200" dirty="0" err="1"/>
              <a:t>없는</a:t>
            </a:r>
            <a:r>
              <a:rPr sz="1200" dirty="0"/>
              <a:t> </a:t>
            </a:r>
            <a:r>
              <a:rPr sz="1200" dirty="0" err="1"/>
              <a:t>수준의</a:t>
            </a:r>
            <a:r>
              <a:rPr sz="1200" dirty="0"/>
              <a:t> </a:t>
            </a:r>
            <a:r>
              <a:rPr sz="1200" dirty="0" err="1"/>
              <a:t>데이터가</a:t>
            </a:r>
            <a:r>
              <a:rPr sz="1200" dirty="0"/>
              <a:t> </a:t>
            </a:r>
            <a:r>
              <a:rPr sz="1200" dirty="0" err="1"/>
              <a:t>발생</a:t>
            </a:r>
            <a:endParaRPr sz="1200" dirty="0"/>
          </a:p>
        </p:txBody>
      </p:sp>
      <p:sp>
        <p:nvSpPr>
          <p:cNvPr id="31" name="Rounded Rectangle 30"/>
          <p:cNvSpPr/>
          <p:nvPr/>
        </p:nvSpPr>
        <p:spPr>
          <a:xfrm>
            <a:off x="5392463" y="481029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1375" y="4792008"/>
            <a:ext cx="3200400" cy="26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22222"/>
                </a:solidFill>
                <a:latin typeface="맑은 고딕"/>
              </a:defRPr>
            </a:pPr>
            <a:r>
              <a:rPr sz="1400" dirty="0" err="1"/>
              <a:t>글로벌</a:t>
            </a:r>
            <a:r>
              <a:rPr sz="1400" dirty="0"/>
              <a:t> </a:t>
            </a:r>
            <a:r>
              <a:rPr sz="1400" dirty="0" err="1"/>
              <a:t>경쟁</a:t>
            </a:r>
            <a:endParaRPr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5831375" y="5063974"/>
            <a:ext cx="3840480" cy="24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rPr sz="1200" dirty="0" err="1"/>
              <a:t>중국</a:t>
            </a:r>
            <a:r>
              <a:rPr sz="1200" dirty="0"/>
              <a:t> </a:t>
            </a:r>
            <a:r>
              <a:rPr sz="1200" dirty="0" err="1"/>
              <a:t>CATL은</a:t>
            </a:r>
            <a:r>
              <a:rPr lang="en-US" sz="1200" dirty="0"/>
              <a:t> </a:t>
            </a:r>
            <a:r>
              <a:rPr sz="1200" dirty="0"/>
              <a:t>5,000만 건 </a:t>
            </a:r>
            <a:r>
              <a:rPr sz="1200" dirty="0" err="1"/>
              <a:t>이상의</a:t>
            </a:r>
            <a:r>
              <a:rPr sz="1200" dirty="0"/>
              <a:t> </a:t>
            </a:r>
            <a:r>
              <a:rPr sz="1200" dirty="0" err="1"/>
              <a:t>데이터로</a:t>
            </a:r>
            <a:r>
              <a:rPr sz="1200" dirty="0"/>
              <a:t> </a:t>
            </a:r>
            <a:r>
              <a:rPr sz="1200" dirty="0" err="1"/>
              <a:t>AI를</a:t>
            </a:r>
            <a:r>
              <a:rPr sz="1200" dirty="0"/>
              <a:t> </a:t>
            </a:r>
            <a:r>
              <a:rPr sz="1200" dirty="0" err="1"/>
              <a:t>운영</a:t>
            </a:r>
            <a:r>
              <a:rPr sz="1200" dirty="0"/>
              <a:t> 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LG CNS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1" y="705936"/>
            <a:ext cx="601887" cy="508860"/>
          </a:xfrm>
          <a:prstGeom prst="roundRect">
            <a:avLst>
              <a:gd name="adj" fmla="val 12000"/>
            </a:avLst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맑은 고딕"/>
              </a:defRPr>
            </a:pPr>
            <a:r>
              <a:rPr sz="1200" dirty="0"/>
              <a:t>LG</a:t>
            </a:r>
            <a:endParaRPr lang="en-US" sz="1200" dirty="0"/>
          </a:p>
          <a:p>
            <a:pPr algn="ctr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맑은 고딕"/>
              </a:defRPr>
            </a:pPr>
            <a:br>
              <a:rPr sz="1200" dirty="0"/>
            </a:br>
            <a:r>
              <a:rPr sz="1200" dirty="0"/>
              <a:t>CNS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888" y="7103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22222"/>
                </a:solidFill>
                <a:latin typeface="맑은 고딕"/>
              </a:defRPr>
            </a:pPr>
            <a:r>
              <a:rPr dirty="0"/>
              <a:t>AI </a:t>
            </a:r>
            <a:r>
              <a:rPr dirty="0" err="1"/>
              <a:t>배터리</a:t>
            </a:r>
            <a:r>
              <a:rPr dirty="0"/>
              <a:t>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솔루션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53888" y="10120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rPr dirty="0" err="1"/>
              <a:t>에이전틱</a:t>
            </a:r>
            <a:r>
              <a:rPr dirty="0"/>
              <a:t> AI </a:t>
            </a:r>
            <a:r>
              <a:rPr dirty="0" err="1"/>
              <a:t>기반</a:t>
            </a:r>
            <a:r>
              <a:rPr dirty="0"/>
              <a:t> — R&amp;D </a:t>
            </a:r>
            <a:r>
              <a:rPr dirty="0" err="1"/>
              <a:t>시험부터</a:t>
            </a:r>
            <a:r>
              <a:rPr dirty="0"/>
              <a:t> </a:t>
            </a:r>
            <a:r>
              <a:rPr dirty="0" err="1"/>
              <a:t>폐배터리</a:t>
            </a:r>
            <a:r>
              <a:rPr dirty="0"/>
              <a:t> </a:t>
            </a:r>
            <a:r>
              <a:rPr dirty="0" err="1"/>
              <a:t>처리까지</a:t>
            </a:r>
            <a:r>
              <a:rPr dirty="0"/>
              <a:t> 전 </a:t>
            </a:r>
            <a:r>
              <a:rPr dirty="0" err="1"/>
              <a:t>과정</a:t>
            </a:r>
            <a:r>
              <a:rPr dirty="0"/>
              <a:t> </a:t>
            </a:r>
            <a:r>
              <a:rPr dirty="0" err="1"/>
              <a:t>자동화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252001" y="1368708"/>
            <a:ext cx="4434840" cy="16002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6593" y="1478436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50034"/>
                </a:solidFill>
                <a:latin typeface="맑은 고딕"/>
              </a:defRPr>
            </a:pPr>
            <a:r>
              <a:t>AI가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593" y="1780188"/>
            <a:ext cx="4105656" cy="1392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rPr dirty="0"/>
              <a:t>▸ </a:t>
            </a:r>
            <a:r>
              <a:rPr dirty="0" err="1"/>
              <a:t>충방전</a:t>
            </a:r>
            <a:r>
              <a:rPr dirty="0"/>
              <a:t> </a:t>
            </a:r>
            <a:r>
              <a:rPr dirty="0" err="1"/>
              <a:t>시험</a:t>
            </a:r>
            <a:r>
              <a:rPr dirty="0"/>
              <a:t> </a:t>
            </a:r>
            <a:r>
              <a:rPr dirty="0" err="1"/>
              <a:t>장비에</a:t>
            </a:r>
            <a:r>
              <a:rPr dirty="0"/>
              <a:t> AI </a:t>
            </a:r>
            <a:r>
              <a:rPr dirty="0" err="1"/>
              <a:t>탑재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설계·분석·보고서</a:t>
            </a:r>
            <a:r>
              <a:rPr dirty="0"/>
              <a:t> </a:t>
            </a:r>
            <a:r>
              <a:rPr dirty="0" err="1"/>
              <a:t>자동화</a:t>
            </a:r>
            <a:endParaRPr dirty="0"/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rPr dirty="0"/>
              <a:t>▸ </a:t>
            </a:r>
            <a:r>
              <a:rPr dirty="0" err="1"/>
              <a:t>배터리</a:t>
            </a:r>
            <a:r>
              <a:rPr dirty="0"/>
              <a:t> </a:t>
            </a:r>
            <a:r>
              <a:rPr dirty="0" err="1"/>
              <a:t>활성화</a:t>
            </a:r>
            <a:r>
              <a:rPr dirty="0"/>
              <a:t> </a:t>
            </a:r>
            <a:r>
              <a:rPr dirty="0" err="1"/>
              <a:t>장비에</a:t>
            </a:r>
            <a:r>
              <a:rPr dirty="0"/>
              <a:t> AI </a:t>
            </a:r>
            <a:r>
              <a:rPr dirty="0" err="1"/>
              <a:t>탑재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공정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단축</a:t>
            </a:r>
            <a:endParaRPr dirty="0"/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rPr dirty="0"/>
              <a:t>▸ </a:t>
            </a:r>
            <a:r>
              <a:rPr dirty="0" err="1"/>
              <a:t>폐배터리</a:t>
            </a:r>
            <a:r>
              <a:rPr dirty="0"/>
              <a:t> </a:t>
            </a:r>
            <a:r>
              <a:rPr dirty="0" err="1"/>
              <a:t>방전</a:t>
            </a:r>
            <a:r>
              <a:rPr dirty="0"/>
              <a:t> </a:t>
            </a:r>
            <a:r>
              <a:rPr dirty="0" err="1"/>
              <a:t>장비에</a:t>
            </a:r>
            <a:r>
              <a:rPr dirty="0"/>
              <a:t> AI </a:t>
            </a:r>
            <a:r>
              <a:rPr dirty="0" err="1"/>
              <a:t>탑재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안전한</a:t>
            </a:r>
            <a:r>
              <a:rPr dirty="0"/>
              <a:t> </a:t>
            </a:r>
            <a:r>
              <a:rPr dirty="0" err="1"/>
              <a:t>방전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rPr dirty="0"/>
              <a:t>▸ 1ms(0.001초)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정밀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AI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rPr dirty="0"/>
              <a:t>▸ </a:t>
            </a:r>
            <a:r>
              <a:rPr dirty="0" err="1"/>
              <a:t>LG에너지솔루션</a:t>
            </a:r>
            <a:r>
              <a:rPr dirty="0"/>
              <a:t> </a:t>
            </a:r>
            <a:r>
              <a:rPr dirty="0" err="1"/>
              <a:t>오창</a:t>
            </a:r>
            <a:r>
              <a:rPr dirty="0"/>
              <a:t> </a:t>
            </a:r>
            <a:r>
              <a:rPr dirty="0" err="1"/>
              <a:t>공장에</a:t>
            </a:r>
            <a:r>
              <a:rPr dirty="0"/>
              <a:t> </a:t>
            </a:r>
            <a:r>
              <a:rPr dirty="0" err="1"/>
              <a:t>장비</a:t>
            </a:r>
            <a:r>
              <a:rPr dirty="0"/>
              <a:t> 20대 </a:t>
            </a:r>
            <a:r>
              <a:rPr dirty="0" err="1"/>
              <a:t>납품</a:t>
            </a:r>
            <a:r>
              <a:rPr dirty="0"/>
              <a:t> </a:t>
            </a:r>
            <a:r>
              <a:rPr dirty="0" err="1"/>
              <a:t>완료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915441" y="1368708"/>
            <a:ext cx="4709160" cy="16002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0033" y="1478436"/>
            <a:ext cx="4379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50034"/>
                </a:solidFill>
                <a:latin typeface="맑은 고딕"/>
              </a:defRPr>
            </a:pPr>
            <a:r>
              <a:t>사용되는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33" y="1780188"/>
            <a:ext cx="437997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배터리 충전/방전 사이클 데이터 (1ms 단위 고속 기록)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전압, 전류, 온도 실시간 측정값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과거 실험 결과 데이터베이스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폐배터리의 전압, 온도, 전류 실시간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1645" y="3133500"/>
            <a:ext cx="5696712" cy="786384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66237" y="3298092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9050">
            <a:solidFill>
              <a:srgbClr val="85C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5276"/>
                </a:solidFill>
                <a:latin typeface="맑은 고딕"/>
              </a:defRPr>
            </a:pPr>
            <a:r>
              <a:t>👨‍🔬 연구원</a:t>
            </a:r>
            <a:br/>
            <a:r>
              <a:t>명령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4917" y="3371244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0949" y="3298092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FCE4EC"/>
          </a:solidFill>
          <a:ln w="19050"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50034"/>
                </a:solidFill>
                <a:latin typeface="맑은 고딕"/>
              </a:defRPr>
            </a:pPr>
            <a:r>
              <a:t>🤖 AI</a:t>
            </a:r>
            <a:br/>
            <a:r>
              <a:t>실험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9629" y="3371244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15661" y="3298092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9050">
            <a:solidFill>
              <a:srgbClr val="85C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5276"/>
                </a:solidFill>
                <a:latin typeface="맑은 고딕"/>
              </a:defRPr>
            </a:pPr>
            <a:r>
              <a:t>⚙ 장비</a:t>
            </a:r>
            <a:br/>
            <a:r>
              <a:t>자동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4341" y="3371244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40373" y="3298092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FCE4EC"/>
          </a:solidFill>
          <a:ln w="19050"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50034"/>
                </a:solidFill>
                <a:latin typeface="맑은 고딕"/>
              </a:defRPr>
            </a:pPr>
            <a:r>
              <a:t>🤖 AI</a:t>
            </a:r>
            <a:br/>
            <a:r>
              <a:t>실시간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9053" y="3371244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5085" y="3298092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5E20"/>
                </a:solidFill>
                <a:latin typeface="맑은 고딕"/>
              </a:defRPr>
            </a:pPr>
            <a:r>
              <a:t>📄 보고서</a:t>
            </a:r>
            <a:br/>
            <a:r>
              <a:t>자동 생성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2001" y="3993036"/>
            <a:ext cx="4206240" cy="109728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729" y="403875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0392B"/>
                </a:solidFill>
                <a:latin typeface="맑은 고딕"/>
              </a:defRPr>
            </a:pPr>
            <a:r>
              <a:t>BEFORE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161" y="426735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연구원이 수작업으로 실험 조건 계산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9161" y="45233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엑셀로 수동 분석 (수 시간 소요)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9161" y="47794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폐배터리 방전 시 화재 위험에 노출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8241" y="3993036"/>
            <a:ext cx="457200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4586257" y="4468524"/>
            <a:ext cx="201168" cy="164592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915441" y="3993036"/>
            <a:ext cx="4732560" cy="109728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5169" y="403875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7AE60"/>
                </a:solidFill>
                <a:latin typeface="맑은 고딕"/>
              </a:defRPr>
            </a:pPr>
            <a:r>
              <a:t>AFTER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2601" y="4267356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AI가 최적 실험 조건 즉시 생성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2601" y="4523388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실시간 자동 분석 및 보고서 작성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2601" y="4779420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AI가 안전한 방전 조건 자동 계산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2001" y="5181756"/>
            <a:ext cx="2971800" cy="7315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2001" y="520004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50034"/>
                </a:solidFill>
                <a:latin typeface="맑은 고딕"/>
              </a:defRPr>
            </a:pPr>
            <a:r>
              <a:t>30%+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2001" y="5501796"/>
            <a:ext cx="2971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생산성 향상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001" y="5684676"/>
            <a:ext cx="29718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AI 도입 시 예상 효과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60961" y="5181756"/>
            <a:ext cx="2971800" cy="7315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60961" y="520004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50034"/>
                </a:solidFill>
                <a:latin typeface="맑은 고딕"/>
              </a:defRPr>
            </a:pPr>
            <a:r>
              <a:t>20대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60961" y="5501796"/>
            <a:ext cx="2971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장비 납품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0961" y="5684676"/>
            <a:ext cx="29718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LG에너지솔루션 오창 공장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69921" y="5181756"/>
            <a:ext cx="2971800" cy="7315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69921" y="520004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50034"/>
                </a:solidFill>
                <a:latin typeface="맑은 고딕"/>
              </a:defRPr>
            </a:pPr>
            <a:r>
              <a:t>3종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9921" y="5501796"/>
            <a:ext cx="2971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AI 장비 라인업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9921" y="5684676"/>
            <a:ext cx="29718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사이클러/포메이션/방전기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Samsung SDI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1" y="667758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맑은 고딕"/>
              </a:defRPr>
            </a:pPr>
            <a:r>
              <a:t>SDI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9201" y="64032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22222"/>
                </a:solidFill>
                <a:latin typeface="맑은 고딕"/>
              </a:defRPr>
            </a:pPr>
            <a:r>
              <a:t>SBI (Samsung Battery Intelligence)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9201" y="94207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AI가 전 세계 1,400개 배터리 현장을 24시간 진단하고 사고를 예방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1" y="1124958"/>
            <a:ext cx="4434840" cy="13258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6593" y="1234686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t>AI가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593" y="1536438"/>
            <a:ext cx="41056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전 세계 1,400개+ 배터리 현장 AI 24시간 감시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배터리 잔여 수명 예측, 교체 시기 알림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미세한 이상 징후 사전 감지, 화재 등 사고 예방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AI 자체 판단으로 배터리 건강 상태 진단 리포트 생성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위험 감지 시 자동 전력 차단, 안전 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5441" y="1124958"/>
            <a:ext cx="4709160" cy="13258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0033" y="1234686"/>
            <a:ext cx="4379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t>사용되는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33" y="1536438"/>
            <a:ext cx="43799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전 세계 1,400개 배터리 현장의 운영 데이터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전압, 온도, 배터리 건강 상태 실시간 센서 데이터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배터리 노화 속도 및 출력 변동 패턴 데이터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과거 이상 징후 및 사고 이력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1" y="2523990"/>
            <a:ext cx="4434840" cy="8686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593" y="2633718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t>AI 제조 품질 검사 (Vision 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593" y="2935470"/>
            <a:ext cx="41056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AI 이미지 분석으로 배터리 불량 자동 검출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X-ray + AI로 배터리 내부 이물질 탐지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전 제조 공정 500가지 품질 항목 AI 체크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15441" y="2523990"/>
            <a:ext cx="4709160" cy="8686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0033" y="2633718"/>
            <a:ext cx="4379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t>차세대 AI 배터리 관리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33" y="2935470"/>
            <a:ext cx="43799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AI 적용 시 배터리 수명 15% 향상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전기차 주행거리 6% 증가, 에너지 출력 10% 향상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기존: 충전량만 확인 → AI: 수명·결함까지 예측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1645" y="3374382"/>
            <a:ext cx="5696712" cy="786384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66237" y="353897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9050">
            <a:solidFill>
              <a:srgbClr val="85C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5276"/>
                </a:solidFill>
                <a:latin typeface="맑은 고딕"/>
              </a:defRPr>
            </a:pPr>
            <a:r>
              <a:t>🔋 배터리 센서</a:t>
            </a:r>
            <a:br/>
            <a:r>
              <a:t>데이터 수집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4917" y="361212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0949" y="353897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8EAF6"/>
          </a:solidFill>
          <a:ln w="1905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t>🤖 SBI AI</a:t>
            </a:r>
            <a:br/>
            <a:r>
              <a:t>실시간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9629" y="361212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5661" y="353897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8EAF6"/>
          </a:solidFill>
          <a:ln w="1905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28A0"/>
                </a:solidFill>
                <a:latin typeface="맑은 고딕"/>
              </a:defRPr>
            </a:pPr>
            <a:r>
              <a:t>🤖 배터리 상태</a:t>
            </a:r>
            <a:br/>
            <a:r>
              <a:t>진단·예측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4341" y="361212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40373" y="353897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5E20"/>
                </a:solidFill>
                <a:latin typeface="맑은 고딕"/>
              </a:defRPr>
            </a:pPr>
            <a:r>
              <a:t>📄 진단 리포트</a:t>
            </a:r>
            <a:br/>
            <a:r>
              <a:t>자동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9053" y="361212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5085" y="353897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0392B"/>
                </a:solidFill>
                <a:latin typeface="맑은 고딕"/>
              </a:defRPr>
            </a:pPr>
            <a:r>
              <a:t>⚠ 이상 감지 시</a:t>
            </a:r>
            <a:br/>
            <a:r>
              <a:t>자동 전력 차단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2001" y="4233918"/>
            <a:ext cx="4206240" cy="109728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1729" y="427963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0392B"/>
                </a:solidFill>
                <a:latin typeface="맑은 고딕"/>
              </a:defRPr>
            </a:pPr>
            <a:r>
              <a:t>BEFORE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9161" y="450823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사후 대응: 문제 발생 후 감지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9161" y="476427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사람이 수동 데이터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161" y="502030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배터리 교체 시기 경험에 의존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8241" y="4233918"/>
            <a:ext cx="457200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ght Arrow 33"/>
          <p:cNvSpPr/>
          <p:nvPr/>
        </p:nvSpPr>
        <p:spPr>
          <a:xfrm>
            <a:off x="4586257" y="4709406"/>
            <a:ext cx="201168" cy="164592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915441" y="4233918"/>
            <a:ext cx="4732560" cy="109728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5169" y="427963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7AE60"/>
                </a:solidFill>
                <a:latin typeface="맑은 고딕"/>
              </a:defRPr>
            </a:pPr>
            <a:r>
              <a:t>AFTER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2601" y="4508238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사전 예방: AI가 이상 징후 미리 감지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52601" y="4764270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전 세계 1,400개 현장 AI 24시간 자동 감시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52601" y="5020302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정확한 수명 예측으로 최적 교체 시기 결정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2001" y="5422638"/>
            <a:ext cx="2971800" cy="7315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2001" y="544092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428A0"/>
                </a:solidFill>
                <a:latin typeface="맑은 고딕"/>
              </a:defRPr>
            </a:pPr>
            <a:r>
              <a:t>1,400+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2001" y="5742678"/>
            <a:ext cx="2971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모니터링 현장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2001" y="5925558"/>
            <a:ext cx="29718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전 세계 ESS 배터리 사이트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60961" y="5422638"/>
            <a:ext cx="2971800" cy="7315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60961" y="544092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428A0"/>
                </a:solidFill>
                <a:latin typeface="맑은 고딕"/>
              </a:defRPr>
            </a:pPr>
            <a:r>
              <a:t>+15%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0961" y="5742678"/>
            <a:ext cx="2971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배터리 수명 향상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60961" y="5925558"/>
            <a:ext cx="29718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AI BMS 적용 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69921" y="5422638"/>
            <a:ext cx="2971800" cy="7315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69921" y="544092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428A0"/>
                </a:solidFill>
                <a:latin typeface="맑은 고딕"/>
              </a:defRPr>
            </a:pPr>
            <a:r>
              <a:t>+10%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9921" y="5742678"/>
            <a:ext cx="2971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에너지 출력 향상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9921" y="5925558"/>
            <a:ext cx="29718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AI BMS 적용 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SK 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1" y="667758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F7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222222"/>
                </a:solidFill>
                <a:latin typeface="맑은 고딕"/>
              </a:defRPr>
            </a:pPr>
            <a:r>
              <a:t>SK</a:t>
            </a:r>
            <a:br/>
            <a:r>
              <a:t>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9201" y="64032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22222"/>
                </a:solidFill>
                <a:latin typeface="맑은 고딕"/>
              </a:defRPr>
            </a:pPr>
            <a:r>
              <a:t>ADAM &amp; AI 연구원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9201" y="94207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AI 연구원이 사람 연구원과 함께 배터리를 설계하고 성능을 예측하는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1" y="1124958"/>
            <a:ext cx="4434840" cy="13258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6593" y="1234686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7B500"/>
                </a:solidFill>
                <a:latin typeface="맑은 고딕"/>
              </a:defRPr>
            </a:pPr>
            <a:r>
              <a:t>AI가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593" y="1536438"/>
            <a:ext cx="41056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셀 설계 AI: 고객 요청서 수신 시 다수 설계안 자동 생성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성능 예측 AI: 실제 배터리 제작 없이 성능 사전 예측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원가 산출 AI: 재료비, 공정비 등 제조 비용 자동 계산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비전 AI: 제조 공정 불량품 자동 검출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수명 예측 AI: 초기 데이터만으로 배터리 수명 예측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5441" y="1124958"/>
            <a:ext cx="4709160" cy="13258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0033" y="1234686"/>
            <a:ext cx="4379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7B500"/>
                </a:solidFill>
                <a:latin typeface="맑은 고딕"/>
              </a:defRPr>
            </a:pPr>
            <a:r>
              <a:t>사용되는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33" y="1536438"/>
            <a:ext cx="43799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과거 배터리 셀 설계 데이터베이스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배터리 소재 특성 데이터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성능 시험 결과 데이터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원가 데이터 (재료비, 공정비 등)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제조 공정 이미지 데이터 (비전 AI용)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1" y="2523990"/>
            <a:ext cx="4434840" cy="8686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593" y="2633718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7B500"/>
                </a:solidFill>
                <a:latin typeface="맑은 고딕"/>
              </a:defRPr>
            </a:pPr>
            <a:r>
              <a:t>AI 연구원 핵심 성과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593" y="2935470"/>
            <a:ext cx="41056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배터리 설계 기간: 기존 대비 1/3로 단축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원가 분석 속도: 기존 대비 700배 향상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검토 가능한 설계안: 기존 대비 15배 증가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15441" y="2523990"/>
            <a:ext cx="4709160" cy="8686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0033" y="2633718"/>
            <a:ext cx="4379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7B500"/>
                </a:solidFill>
                <a:latin typeface="맑은 고딕"/>
              </a:defRPr>
            </a:pPr>
            <a:r>
              <a:t>미래 계획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33" y="2935470"/>
            <a:ext cx="43799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2028년까지 '배터리 전용 AI' 자체 구축 목표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소재 개발 AI 연구원 개발 중 (개발 기간 50% 단축 전망)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22222"/>
                </a:solidFill>
                <a:latin typeface="맑은 고딕"/>
              </a:defRPr>
            </a:pPr>
            <a:r>
              <a:t>▸ 제조, 품질, 영업까지 전사적 AI 확대 예정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21001" y="3374382"/>
            <a:ext cx="6858000" cy="786384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685593" y="3538974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9050">
            <a:solidFill>
              <a:srgbClr val="85C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5276"/>
                </a:solidFill>
                <a:latin typeface="맑은 고딕"/>
              </a:defRPr>
            </a:pPr>
            <a:r>
              <a:t>👨‍🔬 고객 요청서</a:t>
            </a:r>
            <a:br/>
            <a:r>
              <a:t>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8825" y="361212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4857" y="3538974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6300"/>
                </a:solidFill>
                <a:latin typeface="맑은 고딕"/>
              </a:defRPr>
            </a:pPr>
            <a:r>
              <a:t>🤖 셀 설계</a:t>
            </a:r>
            <a:br/>
            <a: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8089" y="361212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24121" y="3538974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6300"/>
                </a:solidFill>
                <a:latin typeface="맑은 고딕"/>
              </a:defRPr>
            </a:pPr>
            <a:r>
              <a:t>🤖 성능</a:t>
            </a:r>
            <a:br/>
            <a:r>
              <a:t>예측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7353" y="361212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3385" y="3538974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6300"/>
                </a:solidFill>
                <a:latin typeface="맑은 고딕"/>
              </a:defRPr>
            </a:pPr>
            <a:r>
              <a:t>🤖 원가</a:t>
            </a:r>
            <a:br/>
            <a:r>
              <a:t>산출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6617" y="361212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62649" y="3538974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6300"/>
                </a:solidFill>
                <a:latin typeface="맑은 고딕"/>
              </a:defRPr>
            </a:pPr>
            <a:r>
              <a:t>🤖 보고서</a:t>
            </a:r>
            <a:br/>
            <a:r>
              <a:t>자동 작성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5881" y="361212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1913" y="3538974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9050">
            <a:solidFill>
              <a:srgbClr val="85C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5276"/>
                </a:solidFill>
                <a:latin typeface="맑은 고딕"/>
              </a:defRPr>
            </a:pPr>
            <a:r>
              <a:t>👨‍🔬 연구원</a:t>
            </a:r>
            <a:br/>
            <a:r>
              <a:t>최종 판단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5145" y="361212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01177" y="3538974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5E20"/>
                </a:solidFill>
                <a:latin typeface="맑은 고딕"/>
              </a:defRPr>
            </a:pPr>
            <a:r>
              <a:t>✅ 최종</a:t>
            </a:r>
            <a:br/>
            <a:r>
              <a:t>설계안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2001" y="4233918"/>
            <a:ext cx="4206240" cy="109728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1729" y="427963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0392B"/>
                </a:solidFill>
                <a:latin typeface="맑은 고딕"/>
              </a:defRPr>
            </a:pPr>
            <a:r>
              <a:t>BEFORE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9161" y="450823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연구원 수작업 셀 설계 (시행착오 반복)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9161" y="476427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한 번에 하나의 설계안만 검토 가능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9161" y="502030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❌  원가 계산에 별도 팀과 수 주 소요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8241" y="4233918"/>
            <a:ext cx="457200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ght Arrow 37"/>
          <p:cNvSpPr/>
          <p:nvPr/>
        </p:nvSpPr>
        <p:spPr>
          <a:xfrm>
            <a:off x="4586257" y="4709406"/>
            <a:ext cx="201168" cy="164592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915441" y="4233918"/>
            <a:ext cx="4732560" cy="109728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5169" y="427963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7AE60"/>
                </a:solidFill>
                <a:latin typeface="맑은 고딕"/>
              </a:defRPr>
            </a:pPr>
            <a:r>
              <a:t>AFTER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2601" y="4508238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AI가 다수 설계안 동시 자동 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2601" y="4764270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실제 제작 없이 성능·원가 예측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52601" y="5020302"/>
            <a:ext cx="445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✅  연구원은 안전성 판단·최종 결정에 집중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2001" y="5422638"/>
            <a:ext cx="2971800" cy="7315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2001" y="544092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7B500"/>
                </a:solidFill>
                <a:latin typeface="맑은 고딕"/>
              </a:defRPr>
            </a:pPr>
            <a:r>
              <a:t>1/3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2001" y="5742678"/>
            <a:ext cx="2971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설계 기간 단축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2001" y="5925558"/>
            <a:ext cx="29718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기존 대비 약 1/3 수준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60961" y="5422638"/>
            <a:ext cx="2971800" cy="7315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60961" y="544092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7B500"/>
                </a:solidFill>
                <a:latin typeface="맑은 고딕"/>
              </a:defRPr>
            </a:pPr>
            <a:r>
              <a:t>700x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0961" y="5742678"/>
            <a:ext cx="2971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원가 분석 속도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60961" y="5925558"/>
            <a:ext cx="29718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기존 대비 700배 향상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69921" y="5422638"/>
            <a:ext cx="2971800" cy="7315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69921" y="544092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7B500"/>
                </a:solidFill>
                <a:latin typeface="맑은 고딕"/>
              </a:defRPr>
            </a:pPr>
            <a:r>
              <a:t>15x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69921" y="5742678"/>
            <a:ext cx="2971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설계안 검토량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69921" y="5925558"/>
            <a:ext cx="29718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맑은 고딕"/>
              </a:defRPr>
            </a:pPr>
            <a:r>
              <a:t>동일 시간 대비 15배 증가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비교 분석 — AI 적용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001" y="62203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배터리 밸류체인의 어느 단계에 AI를 적용했는지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2001" y="942078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밸류체인 단계</a:t>
                      </a:r>
                    </a:p>
                  </a:txBody>
                  <a:tcPr marL="73152" marR="73152" marT="36576" marB="36576"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LG CNS</a:t>
                      </a:r>
                    </a:p>
                  </a:txBody>
                  <a:tcPr marL="73152" marR="73152" marT="36576" marB="36576"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Samsung SDI</a:t>
                      </a:r>
                    </a:p>
                  </a:txBody>
                  <a:tcPr marL="73152" marR="73152" marT="36576" marB="36576"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SK ON</a:t>
                      </a:r>
                    </a:p>
                  </a:txBody>
                  <a:tcPr marL="73152" marR="73152" marT="36576" marB="36576"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R&amp;D / 설계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AAAAAA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F39C12"/>
                          </a:solidFill>
                          <a:latin typeface="맑은 고딕"/>
                        </a:defRPr>
                      </a:pPr>
                      <a:r>
                        <a:t>○ 부분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7AE60"/>
                          </a:solidFill>
                          <a:latin typeface="맑은 고딕"/>
                        </a:defRPr>
                      </a:pPr>
                      <a:r>
                        <a:t>● 핵심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시험 / 분석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7AE60"/>
                          </a:solidFill>
                          <a:latin typeface="맑은 고딕"/>
                        </a:defRPr>
                      </a:pPr>
                      <a:r>
                        <a:t>● 핵심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AAAAAA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F39C12"/>
                          </a:solidFill>
                          <a:latin typeface="맑은 고딕"/>
                        </a:defRPr>
                      </a:pPr>
                      <a:r>
                        <a:t>○ 부분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생산 / 품질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F39C12"/>
                          </a:solidFill>
                          <a:latin typeface="맑은 고딕"/>
                        </a:defRPr>
                      </a:pPr>
                      <a:r>
                        <a:t>○ 부분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7AE60"/>
                          </a:solidFill>
                          <a:latin typeface="맑은 고딕"/>
                        </a:defRPr>
                      </a:pPr>
                      <a:r>
                        <a:t>● 핵심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7AE60"/>
                          </a:solidFill>
                          <a:latin typeface="맑은 고딕"/>
                        </a:defRPr>
                      </a:pPr>
                      <a:r>
                        <a:t>● 핵심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운영 / 모니터링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AAAAAA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7AE60"/>
                          </a:solidFill>
                          <a:latin typeface="맑은 고딕"/>
                        </a:defRPr>
                      </a:pPr>
                      <a:r>
                        <a:t>● 핵심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AAAAAA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안전 / 예방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F39C12"/>
                          </a:solidFill>
                          <a:latin typeface="맑은 고딕"/>
                        </a:defRPr>
                      </a:pPr>
                      <a:r>
                        <a:t>○ 부분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7AE60"/>
                          </a:solidFill>
                          <a:latin typeface="맑은 고딕"/>
                        </a:defRPr>
                      </a:pPr>
                      <a:r>
                        <a:t>● 핵심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F39C12"/>
                          </a:solidFill>
                          <a:latin typeface="맑은 고딕"/>
                        </a:defRPr>
                      </a:pPr>
                      <a:r>
                        <a:t>○ 부분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2001" y="331951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● 핵심 = AI 적용 주력 영역    ○ 부분 = 보조적 활용    — = 미적용 또는 미공개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1" y="3639558"/>
            <a:ext cx="9396000" cy="201168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2001" y="3639558"/>
            <a:ext cx="36576" cy="201168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601" y="373099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3478"/>
                </a:solidFill>
                <a:latin typeface="맑은 고딕"/>
              </a:defRPr>
            </a:pPr>
            <a:r>
              <a:t>핵심 발견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601" y="4005318"/>
            <a:ext cx="893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맑은 고딕"/>
              </a:defRPr>
            </a:pPr>
            <a:r>
              <a:t>▸  3사의 AI 적용 영역이 확연히 다름 — 경쟁이 아닌 상호보완적 구조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맑은 고딕"/>
              </a:defRPr>
            </a:pPr>
            <a:r>
              <a:t>▸  LG CNS = 시험/분석 + 폐배터리  |  Samsung SDI = 운영/안전/생산  |  SK ON = R&amp;D/설계/생산</a:t>
            </a:r>
          </a:p>
          <a:p>
            <a:pPr>
              <a:lnSpc>
                <a:spcPts val="1900"/>
              </a:lnSpc>
              <a:spcBef>
                <a:spcPts val="1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맑은 고딕"/>
              </a:defRPr>
            </a:pPr>
            <a:r>
              <a:t>▸  설계 → 시험 → 생산 → 운영 → 안전까지, 밸류체인 전 단계에서 AI 도입이 가속화 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비교 분석 — AI 활용 수준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001" y="62203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레이더 차트 및 종합 비유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52001" y="942078"/>
          <a:ext cx="4572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2001" y="514831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* 인터배터리 2026 전시 내용 기반의 상대적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8321" y="400531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3478"/>
                </a:solidFill>
                <a:latin typeface="맑은 고딕"/>
              </a:defRPr>
            </a:pPr>
            <a:r>
              <a:t>종합 비유</a:t>
            </a:r>
          </a:p>
        </p:txBody>
      </p:sp>
      <p:sp>
        <p:nvSpPr>
          <p:cNvPr id="7" name="Oval 6"/>
          <p:cNvSpPr/>
          <p:nvPr/>
        </p:nvSpPr>
        <p:spPr>
          <a:xfrm>
            <a:off x="5171473" y="4352790"/>
            <a:ext cx="109728" cy="109728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72641" y="432535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22"/>
                </a:solidFill>
                <a:latin typeface="맑은 고딕"/>
              </a:defRPr>
            </a:pPr>
            <a:r>
              <a:t>LG CNS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9961" y="432535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=  배터리 자동 실험실</a:t>
            </a:r>
          </a:p>
        </p:txBody>
      </p:sp>
      <p:sp>
        <p:nvSpPr>
          <p:cNvPr id="10" name="Oval 9"/>
          <p:cNvSpPr/>
          <p:nvPr/>
        </p:nvSpPr>
        <p:spPr>
          <a:xfrm>
            <a:off x="5171473" y="4700262"/>
            <a:ext cx="109728" cy="109728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72641" y="467283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22"/>
                </a:solidFill>
                <a:latin typeface="맑은 고딕"/>
              </a:defRPr>
            </a:pPr>
            <a:r>
              <a:t>Samsung SDI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9961" y="467283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=  24시간 배터리 전담의</a:t>
            </a:r>
          </a:p>
        </p:txBody>
      </p:sp>
      <p:sp>
        <p:nvSpPr>
          <p:cNvPr id="13" name="Oval 12"/>
          <p:cNvSpPr/>
          <p:nvPr/>
        </p:nvSpPr>
        <p:spPr>
          <a:xfrm>
            <a:off x="5171473" y="5047734"/>
            <a:ext cx="109728" cy="109728"/>
          </a:xfrm>
          <a:prstGeom prst="ellipse">
            <a:avLst/>
          </a:prstGeom>
          <a:solidFill>
            <a:srgbClr val="F7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2641" y="502030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6300"/>
                </a:solidFill>
                <a:latin typeface="맑은 고딕"/>
              </a:defRPr>
            </a:pPr>
            <a:r>
              <a:t>SK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9961" y="502030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=  AI 동료 연구원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비교 분석 — 종합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001" y="62203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3사의 AI 전략을 한눈에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2001" y="942078"/>
          <a:ext cx="9326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marL="73152" marR="73152" marT="36576" marB="36576"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LG CNS</a:t>
                      </a:r>
                    </a:p>
                  </a:txBody>
                  <a:tcPr marL="73152" marR="73152" marT="36576" marB="36576"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Samsung SDI</a:t>
                      </a:r>
                    </a:p>
                  </a:txBody>
                  <a:tcPr marL="73152" marR="73152" marT="36576" marB="36576"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SK ON</a:t>
                      </a:r>
                    </a:p>
                  </a:txBody>
                  <a:tcPr marL="73152" marR="73152" marT="36576" marB="36576"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회사 유형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IT 서비스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배터리 제조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배터리 제조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AI 핵심 제품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AX 사이클러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포메이션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Factova HED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SBI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AI BMS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Vision AI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ADAM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비전 AI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수명 예측 AI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AI가 하는 일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실험 자동 설계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결과 분석·보고서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24시간 배터리 감시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수명 예측·사고 예방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셀 설계 자동화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성능·원가 예측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주요 성과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생산성 30%↑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장비 20대 납품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수명 15%↑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1,400개 현장 관리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설계 기간 1/3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원가분석 700배↑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적용 단계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시험·분석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폐배터리 처리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운영·안전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생산·품질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R&amp;D·설계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생산·품질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비유적 역할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배터리 자동 실험실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24시간 배터리 전담의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222222"/>
                          </a:solidFill>
                          <a:latin typeface="맑은 고딕"/>
                        </a:defRPr>
                      </a:pPr>
                      <a:r>
                        <a:t>AI 동료 연구원</a:t>
                      </a:r>
                    </a:p>
                  </a:txBody>
                  <a:tcPr marL="73152" marR="73152" marT="36576" marB="36576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시사점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001" y="62203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3사의 AI 활용 분석을 통해 도출한 핵심 시사점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2001" y="987798"/>
            <a:ext cx="29260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2001" y="987798"/>
            <a:ext cx="2926080" cy="36576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6593" y="112495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DDDDDD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593" y="149071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478"/>
                </a:solidFill>
                <a:latin typeface="맑은 고딕"/>
              </a:defRPr>
            </a:pPr>
            <a:r>
              <a:t>밸류체인 전 단계에서</a:t>
            </a:r>
            <a:br/>
            <a:r>
              <a:t>AI 도입 가속화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593" y="2176518"/>
            <a:ext cx="259689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설계(SK ON) → 시험(LG CNS) → 생산(삼성SDI·SK ON)</a:t>
            </a:r>
            <a:br/>
            <a:r>
              <a:t>→ 운영·안전(삼성SDI) → 폐배터리(LG CNS)까지</a:t>
            </a:r>
            <a:br/>
            <a:r>
              <a:t>밸류체인 전 단계에서 AI 도입 진행 중.</a:t>
            </a:r>
            <a:br/>
            <a:r>
              <a:t>배터리 산업에서 AI는 선택이 아닌 필수.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5241" y="987798"/>
            <a:ext cx="29260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15241" y="987798"/>
            <a:ext cx="2926080" cy="36576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9833" y="112495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DDDDDD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9833" y="149071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478"/>
                </a:solidFill>
                <a:latin typeface="맑은 고딕"/>
              </a:defRPr>
            </a:pPr>
            <a:r>
              <a:t>각사의 차별화된</a:t>
            </a:r>
            <a:br/>
            <a:r>
              <a:t>AI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9833" y="2176518"/>
            <a:ext cx="259689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LG CNS = 실험 자동화 (IT기업의 AI 소프트웨어 강점)</a:t>
            </a:r>
            <a:br/>
            <a:r>
              <a:t>Samsung SDI = 배터리 진단 (1,400개 현장 데이터)</a:t>
            </a:r>
            <a:br/>
            <a:r>
              <a:t>SK ON = AI 연구원 (설계·예측 자동화)</a:t>
            </a:r>
            <a:br/>
            <a:r>
              <a:t>같은 'AI'라도 접근 방식이 완전히 다름.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8481" y="987798"/>
            <a:ext cx="29260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78481" y="987798"/>
            <a:ext cx="2926080" cy="36576"/>
          </a:xfrm>
          <a:prstGeom prst="rect">
            <a:avLst/>
          </a:prstGeom>
          <a:solidFill>
            <a:srgbClr val="F7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3073" y="112495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DDDDDD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073" y="149071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478"/>
                </a:solidFill>
                <a:latin typeface="맑은 고딕"/>
              </a:defRPr>
            </a:pPr>
            <a:r>
              <a:t>AI는 사람을</a:t>
            </a:r>
            <a:br/>
            <a:r>
              <a:t>"대체"하지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073" y="2176518"/>
            <a:ext cx="259689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SK ON: AI 연구원은 '함께 일하는 동료'</a:t>
            </a:r>
            <a:br/>
            <a:r>
              <a:t>AI가 반복 작업 대신 수행.</a:t>
            </a:r>
            <a:br/>
            <a:r>
              <a:t>사람은 최종 판단·창의적 결정에 집중.</a:t>
            </a:r>
            <a:br/>
            <a:r>
              <a:t>3사 모두 AI를 '도구'가 아닌 '파트너'로 활용.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SL에 주는 시사점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001" y="62203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배터리 3사의 AI 활용이 SL에 시사하는 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2001" y="942078"/>
            <a:ext cx="9396000" cy="4572000"/>
          </a:xfrm>
          <a:prstGeom prst="roundRect">
            <a:avLst>
              <a:gd name="adj" fmla="val 2000"/>
            </a:avLst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26321" y="1170678"/>
            <a:ext cx="292608" cy="292608"/>
          </a:xfrm>
          <a:prstGeom prst="ellipse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3521" y="115239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글로벌 AI 경쟁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3521" y="142671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중국 CATL(세계 1위, 점유율 39%), 5,000만 건 이상 데이터로 AI 운영 중.</a:t>
            </a:r>
            <a:br/>
            <a:r>
              <a:t>한국 3사 합산 점유율 약 16%. AI 도입 지연 시 격차 확대.</a:t>
            </a:r>
          </a:p>
        </p:txBody>
      </p:sp>
      <p:sp>
        <p:nvSpPr>
          <p:cNvPr id="8" name="Oval 7"/>
          <p:cNvSpPr/>
          <p:nvPr/>
        </p:nvSpPr>
        <p:spPr>
          <a:xfrm>
            <a:off x="526321" y="2405118"/>
            <a:ext cx="292608" cy="292608"/>
          </a:xfrm>
          <a:prstGeom prst="ellipse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521" y="238683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데이터 확보가 AI 성공의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521" y="266115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삼성SDI 1,400개 현장, SK ON 설계 DB, LG CNS 실험 데이터를 AI에 활용.</a:t>
            </a:r>
            <a:br/>
            <a:r>
              <a:t>체계적 데이터 관리가 AI 도입의 첫걸음.</a:t>
            </a:r>
          </a:p>
        </p:txBody>
      </p:sp>
      <p:sp>
        <p:nvSpPr>
          <p:cNvPr id="11" name="Oval 10"/>
          <p:cNvSpPr/>
          <p:nvPr/>
        </p:nvSpPr>
        <p:spPr>
          <a:xfrm>
            <a:off x="526321" y="3639558"/>
            <a:ext cx="292608" cy="292608"/>
          </a:xfrm>
          <a:prstGeom prst="ellipse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3521" y="362127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작은 것부터 시작하는 것이 현실적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3521" y="389559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처음부터 대규모 AI가 아닌, 특정 업무(시험 자동화, 데이터 분석 등)부터</a:t>
            </a:r>
            <a:br/>
            <a:r>
              <a:t>시작하여 점진적 확대. 3사의 공통된 접근 방식.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부록 — AI 용어집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001" y="62203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보고서에 등장하는 주요 용어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2001" y="942078"/>
            <a:ext cx="4526280" cy="841248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9161" y="101523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3478"/>
                </a:solidFill>
                <a:latin typeface="맑은 고딕"/>
              </a:defRPr>
            </a:pPr>
            <a:r>
              <a:t>AI (인공지능)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161" y="126211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사람의 학습·판단 능력을 컴퓨터로 구현한 기술.</a:t>
            </a:r>
            <a:br/>
            <a:r>
              <a:t>데이터에서 패턴을 찾고 예측.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61161" y="942078"/>
            <a:ext cx="4526280" cy="841248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98321" y="101523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3478"/>
                </a:solidFill>
                <a:latin typeface="맑은 고딕"/>
              </a:defRPr>
            </a:pPr>
            <a:r>
              <a:t>SBI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8321" y="126211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Samsung Battery Intelligence.</a:t>
            </a:r>
            <a:br/>
            <a:r>
              <a:t>삼성SDI의 AI 배터리 진단 소프트웨어.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001" y="1902198"/>
            <a:ext cx="4526280" cy="841248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9161" y="197535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3478"/>
                </a:solidFill>
                <a:latin typeface="맑은 고딕"/>
              </a:defRPr>
            </a:pPr>
            <a:r>
              <a:t>ADAM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161" y="222223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AI-Based Design &amp; Analysis Machine.</a:t>
            </a:r>
            <a:br/>
            <a:r>
              <a:t>SK ON의 AI 배터리 설계 시스템.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1161" y="1902198"/>
            <a:ext cx="4526280" cy="841248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98321" y="197535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3478"/>
                </a:solidFill>
                <a:latin typeface="맑은 고딕"/>
              </a:defRPr>
            </a:pPr>
            <a:r>
              <a:t>BMS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8321" y="222223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Battery Management System.</a:t>
            </a:r>
            <a:br/>
            <a:r>
              <a:t>배터리 충방전과 온도를 관리하는 시스템.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001" y="2862318"/>
            <a:ext cx="4526280" cy="841248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9161" y="293547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3478"/>
                </a:solidFill>
                <a:latin typeface="맑은 고딕"/>
              </a:defRPr>
            </a:pPr>
            <a:r>
              <a:t>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161" y="318235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Energy Storage System.</a:t>
            </a:r>
            <a:br/>
            <a:r>
              <a:t>대용량 에너지를 저장하는 장치.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61161" y="2862318"/>
            <a:ext cx="4526280" cy="841248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98321" y="293547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3478"/>
                </a:solidFill>
                <a:latin typeface="맑은 고딕"/>
              </a:defRPr>
            </a:pPr>
            <a:r>
              <a:t>에이전틱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8321" y="318235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사람의 지시 없이도 스스로 판단하고</a:t>
            </a:r>
            <a:br/>
            <a:r>
              <a:t>실행하는 AI. LG CNS가 배터리 장비에 적용.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2001" y="3822438"/>
            <a:ext cx="4526280" cy="841248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9161" y="389559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3478"/>
                </a:solidFill>
                <a:latin typeface="맑은 고딕"/>
              </a:defRPr>
            </a:pPr>
            <a:r>
              <a:t>RFQ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161" y="414247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Request for Quotation.</a:t>
            </a:r>
            <a:br/>
            <a:r>
              <a:t>고객이 원하는 배터리 사양을 적어 보내는 요청서.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61161" y="3822438"/>
            <a:ext cx="4526280" cy="841248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98321" y="389559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3478"/>
                </a:solidFill>
                <a:latin typeface="맑은 고딕"/>
              </a:defRPr>
            </a:pPr>
            <a:r>
              <a:t>비전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8321" y="414247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카메라 이미지를 AI가 분석,</a:t>
            </a:r>
            <a:br/>
            <a:r>
              <a:t>불량품을 자동 검출하는 기술.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2001" y="4782558"/>
            <a:ext cx="4526280" cy="841248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9161" y="485571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3478"/>
                </a:solidFill>
                <a:latin typeface="맑은 고딕"/>
              </a:defRPr>
            </a:pPr>
            <a:r>
              <a:t>밸류체인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9161" y="510259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설계→시험→생산→운영의 전체 과정.</a:t>
            </a:r>
            <a:br/>
            <a:r>
              <a:t>제품이 만들어지는 모든 단계.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478"/>
                </a:solidFill>
                <a:latin typeface="맑은 고딕"/>
              </a:defRPr>
            </a:pPr>
            <a:r>
              <a:t>부록 —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001" y="62203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본 보고서 작성에 활용된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9161" y="98779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481" y="98779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인터배터리 2026 전시회 현장 조사 (2026.3.11~13, 서울 코엑스)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161" y="142671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481" y="142671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LG CNS — AI로 배터리 공정 혁신 (스마트비즈, kidd, ZDNet, 2026.3)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161" y="186562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481" y="186562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삼성SDI — AI 기반 ESS 화재 예방 SW 'SBI' (서울경제, 헤럴드경제, Korea Herald)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161" y="230453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481" y="230453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SK ON — AI 연구원이 배터리 개발 참여 (ASK inno, 오늘경제, 2026.3)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161" y="274344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481" y="274344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배터리 3사 기술 수장 AI R&amp;D 혁신 발표 (헤럴드경제, 2026.3)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161" y="318235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481" y="318235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IDTechEx — AI-Driven Battery Technology 2025-2035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161" y="362127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481" y="362127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CATL AI Strategy Analysis (SCMP, Klover.ai, 2026.3)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2001" y="4279638"/>
            <a:ext cx="9396000" cy="1097280"/>
          </a:xfrm>
          <a:prstGeom prst="roundRect">
            <a:avLst>
              <a:gd name="adj" fmla="val 2000"/>
            </a:avLst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2001" y="4416798"/>
            <a:ext cx="939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001" y="4828278"/>
            <a:ext cx="939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CCEE"/>
                </a:solidFill>
                <a:latin typeface="맑은 고딕"/>
              </a:defRPr>
            </a:pPr>
            <a:r>
              <a:t>국내 배터리 3사 AI 활용 현황 분석  |  인터배터리 2026  |  SL  |  2026년 3월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rebuchet MS &amp; 휴먼모음T">
      <a:majorFont>
        <a:latin typeface="Trebuchet MS"/>
        <a:ea typeface="휴먼모음T"/>
        <a:cs typeface=""/>
      </a:majorFont>
      <a:minorFont>
        <a:latin typeface="Trebuchet MS"/>
        <a:ea typeface="휴먼모음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1">
              <a:lumMod val="65000"/>
            </a:schemeClr>
          </a:solidFill>
        </a:ln>
        <a:effectLst>
          <a:outerShdw dist="25400" dir="2700000" algn="ctr" rotWithShape="0">
            <a:schemeClr val="bg1">
              <a:lumMod val="50000"/>
            </a:schemeClr>
          </a:outerShdw>
        </a:effectLst>
      </a:spPr>
      <a:bodyPr lIns="108000" tIns="36000" rIns="108000" bIns="36000" rtlCol="0" anchor="ctr"/>
      <a:lstStyle>
        <a:defPPr algn="ctr">
          <a:defRPr sz="1200" dirty="0">
            <a:solidFill>
              <a:schemeClr val="tx1"/>
            </a:solidFill>
            <a:latin typeface="Trebuchet MS" pitchFamily="34" charset="0"/>
            <a:ea typeface="휴먼모음T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36000" rtlCol="0">
        <a:spAutoFit/>
      </a:bodyPr>
      <a:lstStyle>
        <a:defPPr>
          <a:defRPr sz="1200" dirty="0" err="1" smtClean="0">
            <a:solidFill>
              <a:schemeClr val="tx1"/>
            </a:solidFill>
            <a:latin typeface="Trebuchet MS" pitchFamily="34" charset="0"/>
            <a:ea typeface="휴먼모음T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c3e313d-adbc-460d-92e1-b20580541235}" enabled="1" method="Privileged" siteId="{f8cedb79-e3e0-481e-be04-2a5cc79f6b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10597</TotalTime>
  <Words>1912</Words>
  <Application>Microsoft Office PowerPoint</Application>
  <PresentationFormat>A4 용지(210x297mm)</PresentationFormat>
  <Paragraphs>322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맑은 고딕</vt:lpstr>
      <vt:lpstr>현대하모니 L</vt:lpstr>
      <vt:lpstr>현대하모니 M</vt:lpstr>
      <vt:lpstr>Arial</vt:lpstr>
      <vt:lpstr>Trebuchet MS</vt:lpstr>
      <vt:lpstr>Wingdings</vt:lpstr>
      <vt:lpstr>Office 테마</vt:lpstr>
      <vt:lpstr>국내 배터리 3사의 AI 활용 현황 분석</vt:lpstr>
      <vt:lpstr>배터리 3사 AI 핵심 전략</vt:lpstr>
      <vt:lpstr>LG CNS</vt:lpstr>
      <vt:lpstr>Samsung SDI</vt:lpstr>
      <vt:lpstr>SK ON</vt:lpstr>
      <vt:lpstr>비교 분석 — AI 적용 영역</vt:lpstr>
      <vt:lpstr>비교 분석 — AI 활용 수준</vt:lpstr>
      <vt:lpstr>비교 분석 — 종합 비교표</vt:lpstr>
      <vt:lpstr>시사점</vt:lpstr>
      <vt:lpstr>SL에 주는 시사점</vt:lpstr>
      <vt:lpstr>부록 — AI 용어집</vt:lpstr>
      <vt:lpstr>부록 — 출처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bealmighty</dc:creator>
  <cp:lastModifiedBy>Mingyu Kang(강민규)[Algorithm Development Team]</cp:lastModifiedBy>
  <cp:revision>632</cp:revision>
  <dcterms:created xsi:type="dcterms:W3CDTF">2010-01-22T06:43:33Z</dcterms:created>
  <dcterms:modified xsi:type="dcterms:W3CDTF">2026-03-31T04:51:59Z</dcterms:modified>
</cp:coreProperties>
</file>