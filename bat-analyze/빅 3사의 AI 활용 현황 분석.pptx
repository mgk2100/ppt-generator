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pos="3120">
          <p15:clr>
            <a:srgbClr val="A4A3A4"/>
          </p15:clr>
        </p15:guide>
        <p15:guide id="5" pos="172">
          <p15:clr>
            <a:srgbClr val="A4A3A4"/>
          </p15:clr>
        </p15:guide>
        <p15:guide id="6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87176" autoAdjust="0"/>
  </p:normalViewPr>
  <p:slideViewPr>
    <p:cSldViewPr showGuides="1">
      <p:cViewPr varScale="1">
        <p:scale>
          <a:sx n="114" d="100"/>
          <a:sy n="114" d="100"/>
        </p:scale>
        <p:origin x="1627" y="302"/>
      </p:cViewPr>
      <p:guideLst>
        <p:guide orient="horz" pos="2160"/>
        <p:guide orient="horz" pos="527"/>
        <p:guide orient="horz" pos="3974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865B8-6288-4184-A9BF-A3164421EED3}" type="datetimeFigureOut">
              <a:rPr lang="ko-KR" altLang="en-US" smtClean="0"/>
              <a:pPr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A01B-4B59-42FA-83E5-06C4C29136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05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1" descr="SL_ppt_C"/>
          <p:cNvPicPr>
            <a:picLocks noChangeArrowheads="1"/>
          </p:cNvPicPr>
          <p:nvPr userDrawn="1"/>
        </p:nvPicPr>
        <p:blipFill>
          <a:blip r:embed="rId2" cstate="print"/>
          <a:srcRect b="1047"/>
          <a:stretch>
            <a:fillRect/>
          </a:stretch>
        </p:blipFill>
        <p:spPr bwMode="auto">
          <a:xfrm>
            <a:off x="1" y="0"/>
            <a:ext cx="9903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2000" y="1584000"/>
            <a:ext cx="9396000" cy="811367"/>
          </a:xfrm>
        </p:spPr>
        <p:txBody>
          <a:bodyPr lIns="36000" rIns="36000"/>
          <a:lstStyle>
            <a:lvl1pPr algn="ctr">
              <a:defRPr sz="4800" b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0000" y="3886203"/>
            <a:ext cx="7020000" cy="44203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9" name="Picture 57" descr="SL심벌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640001" y="5940000"/>
            <a:ext cx="97948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00" y="180003"/>
            <a:ext cx="9396000" cy="442035"/>
          </a:xfrm>
        </p:spPr>
        <p:txBody>
          <a:bodyPr/>
          <a:lstStyle>
            <a:lvl1pPr>
              <a:defRPr sz="2400" b="1"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0" hasCustomPrompt="1"/>
          </p:nvPr>
        </p:nvSpPr>
        <p:spPr>
          <a:xfrm>
            <a:off x="252001" y="622038"/>
            <a:ext cx="9396000" cy="5795294"/>
          </a:xfrm>
        </p:spPr>
        <p:txBody>
          <a:bodyPr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 sz="2000" b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540000" indent="-285750">
              <a:lnSpc>
                <a:spcPct val="100000"/>
              </a:lnSpc>
              <a:buFont typeface="Wingdings" panose="05000000000000000000" pitchFamily="2" charset="2"/>
              <a:buChar char="l"/>
              <a:defRPr sz="1800" b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720000" indent="-228600">
              <a:buFont typeface="현대하모니 L" panose="02020603020101020101" pitchFamily="18" charset="-127"/>
              <a:buChar char="○"/>
              <a:defRPr sz="16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900000" indent="-171450" algn="l">
              <a:buFont typeface="Arial" panose="020B0604020202020204" pitchFamily="34" charset="0"/>
              <a:buChar char="■"/>
              <a:defRPr sz="14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080000" indent="-228600">
              <a:buFont typeface="Arial" panose="020B0604020202020204" pitchFamily="34" charset="0"/>
              <a:buChar char="□"/>
              <a:defRPr sz="12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  <a:p>
            <a:pPr lvl="1"/>
            <a:r>
              <a:rPr lang="ko-KR" altLang="en-US" dirty="0" err="1"/>
              <a:t>ㅇ</a:t>
            </a:r>
            <a:endParaRPr lang="en-US" altLang="ko-KR" dirty="0"/>
          </a:p>
          <a:p>
            <a:pPr lvl="2"/>
            <a:r>
              <a:rPr lang="ko-KR" altLang="en-US" dirty="0" err="1"/>
              <a:t>ㅇ</a:t>
            </a:r>
            <a:endParaRPr lang="en-US" altLang="ko-KR" dirty="0"/>
          </a:p>
          <a:p>
            <a:pPr lvl="3"/>
            <a:r>
              <a:rPr lang="ko-KR" altLang="en-US" dirty="0" err="1"/>
              <a:t>ㅇ</a:t>
            </a:r>
            <a:endParaRPr lang="en-US" altLang="ko-KR" dirty="0"/>
          </a:p>
          <a:p>
            <a:pPr lvl="4"/>
            <a:r>
              <a:rPr lang="ko-KR" altLang="en-US" dirty="0" err="1"/>
              <a:t>ㅇ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(페이지 번호 삭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5328000" y="6552000"/>
            <a:ext cx="1080000" cy="252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52000" y="180003"/>
            <a:ext cx="9396000" cy="41125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1999" y="792000"/>
            <a:ext cx="9396001" cy="288147"/>
          </a:xfrm>
          <a:prstGeom prst="rect">
            <a:avLst/>
          </a:prstGeom>
        </p:spPr>
        <p:txBody>
          <a:bodyPr vert="horz" wrap="square" lIns="108000" tIns="36000" rIns="108000" bIns="36000" rtlCol="0"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5328000" y="6552000"/>
            <a:ext cx="117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679B8-E508-496F-9374-50C23453982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 00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52000" y="612000"/>
            <a:ext cx="939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271727" y="6516000"/>
            <a:ext cx="93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4"/>
          <p:cNvSpPr txBox="1">
            <a:spLocks/>
          </p:cNvSpPr>
          <p:nvPr userDrawn="1"/>
        </p:nvSpPr>
        <p:spPr>
          <a:xfrm>
            <a:off x="7308000" y="6552000"/>
            <a:ext cx="234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연구개발본부</a:t>
            </a:r>
          </a:p>
        </p:txBody>
      </p:sp>
      <p:pic>
        <p:nvPicPr>
          <p:cNvPr id="12" name="Picture 18" descr="SL심벌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1685" y="232632"/>
            <a:ext cx="490042" cy="305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바닥글 개체 틀 4"/>
          <p:cNvSpPr txBox="1">
            <a:spLocks/>
          </p:cNvSpPr>
          <p:nvPr userDrawn="1"/>
        </p:nvSpPr>
        <p:spPr>
          <a:xfrm>
            <a:off x="251999" y="6534000"/>
            <a:ext cx="5040000" cy="288000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pitchFamily="34" charset="0"/>
              </a:rPr>
              <a:t>SL Corporation Confidential.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pitchFamily="34" charset="0"/>
              </a:rPr>
              <a:t>The Contents may only be passed on, used or made known with our express permission.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1" hangingPunct="1">
        <a:spcBef>
          <a:spcPct val="0"/>
        </a:spcBef>
        <a:buNone/>
        <a:defRPr sz="2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ts val="0"/>
        </a:spcBef>
        <a:buClr>
          <a:schemeClr val="tx1"/>
        </a:buClr>
        <a:buFontTx/>
        <a:buNone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1584000"/>
            <a:ext cx="9396000" cy="749812"/>
          </a:xfrm>
        </p:spPr>
        <p:txBody>
          <a:bodyPr/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sz="4400" dirty="0"/>
              <a:t>빅</a:t>
            </a:r>
            <a:r>
              <a:rPr sz="4400" dirty="0"/>
              <a:t> 3사의 AI </a:t>
            </a:r>
            <a:r>
              <a:rPr sz="4400" dirty="0" err="1"/>
              <a:t>활용</a:t>
            </a:r>
            <a:r>
              <a:rPr sz="4400" dirty="0"/>
              <a:t> </a:t>
            </a:r>
            <a:r>
              <a:rPr sz="4400" dirty="0" err="1"/>
              <a:t>현황</a:t>
            </a:r>
            <a:r>
              <a:rPr sz="4400" dirty="0"/>
              <a:t> </a:t>
            </a:r>
            <a:r>
              <a:rPr sz="4400" dirty="0" err="1"/>
              <a:t>분석</a:t>
            </a:r>
            <a:endParaRPr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2026. 03. 31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1701" y="360000"/>
            <a:ext cx="3097103" cy="272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□ 의사결정    □ 보고    ■ 정보공유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10" y="5985284"/>
            <a:ext cx="6681380" cy="442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22222"/>
                </a:solidFill>
                <a:latin typeface="맑은 고딕"/>
              </a:defRPr>
            </a:pPr>
            <a:r>
              <a:t>미래융합설계센터 알고리즘개발팀 강민규 선임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rPr lang="ko-KR" altLang="en-US" dirty="0"/>
              <a:t>빅</a:t>
            </a:r>
            <a:r>
              <a:rPr dirty="0"/>
              <a:t> 3사 AI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전략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52001" y="66775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3사의 AI 활용 방식과 핵심 성과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2001" y="1124958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583721" y="987798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6593" y="1234686"/>
            <a:ext cx="25511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DDDDD"/>
                </a:solidFill>
                <a:latin typeface="맑은 고딕"/>
              </a:defRPr>
            </a:pPr>
            <a:r>
              <a:t>LG CNS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593" y="1444998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AI 탑재 장비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93" y="1902198"/>
            <a:ext cx="2551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EEEEE"/>
                </a:solidFill>
                <a:latin typeface="맑은 고딕"/>
              </a:defRPr>
            </a:pPr>
            <a:r>
              <a:t>배터리 시험 장비에 AI 탑재</a:t>
            </a:r>
            <a:br/>
            <a:r>
              <a:t>실험 설계부터 폐배터리 처리까지 자동화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6681" y="1124958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38401" y="987798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1273" y="1234686"/>
            <a:ext cx="25511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DDDDD"/>
                </a:solidFill>
                <a:latin typeface="맑은 고딕"/>
              </a:defRPr>
            </a:pPr>
            <a:r>
              <a:t>Samsung SDI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273" y="1444998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배터리 진단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1273" y="1902198"/>
            <a:ext cx="2551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EEEEE"/>
                </a:solidFill>
                <a:latin typeface="맑은 고딕"/>
              </a:defRPr>
            </a:pPr>
            <a:r>
              <a:t>전 세계 1,400개 배터리 현장 AI 24시간 감시</a:t>
            </a:r>
            <a:br/>
            <a:r>
              <a:t>이상 징후 사전 감지로 사고 예방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1361" y="1124958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93081" y="987798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5953" y="1234686"/>
            <a:ext cx="25511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55555"/>
                </a:solidFill>
                <a:latin typeface="맑은 고딕"/>
              </a:defRPr>
            </a:pPr>
            <a:r>
              <a:t>SK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5953" y="1444998"/>
            <a:ext cx="2551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22222"/>
                </a:solidFill>
                <a:latin typeface="맑은 고딕"/>
              </a:defRPr>
            </a:pPr>
            <a:r>
              <a:t>AI 연구원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5953" y="1902198"/>
            <a:ext cx="2551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맑은 고딕"/>
              </a:defRPr>
            </a:pPr>
            <a:r>
              <a:t>AI 연구원이 배터리 설계~원가 산출 자동 수행</a:t>
            </a:r>
            <a:br/>
            <a:r>
              <a:t>설계 기간 1/3로 단축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2001" y="3182358"/>
            <a:ext cx="9396000" cy="283464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2001" y="3182358"/>
            <a:ext cx="45720" cy="28346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6321" y="329208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478"/>
                </a:solidFill>
                <a:latin typeface="맑은 고딕"/>
              </a:defRPr>
            </a:pPr>
            <a:r>
              <a:t>왜 배터리 업계가 AI를 도입하고 있는가?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321" y="368527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33" y="366699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222"/>
                </a:solidFill>
                <a:latin typeface="맑은 고딕"/>
              </a:defRPr>
            </a:pPr>
            <a:r>
              <a:t>개발 기간 압박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233" y="390473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전기차 시장의 폭발적 성장으로 신제품</a:t>
            </a:r>
            <a:br/>
            <a:r>
              <a:t>출시 주기가 크게 단축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8321" y="368527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7233" y="366699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222"/>
                </a:solidFill>
                <a:latin typeface="맑은 고딕"/>
              </a:defRPr>
            </a:pPr>
            <a:r>
              <a:t>안전성 강화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7233" y="390473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ESS 화재 등 안전 사고 예방에 대한</a:t>
            </a:r>
            <a:br/>
            <a:r>
              <a:t>사회적 요구가 높아짐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6321" y="482827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33" y="480999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222"/>
                </a:solidFill>
                <a:latin typeface="맑은 고딕"/>
              </a:defRPr>
            </a:pPr>
            <a:r>
              <a:t>데이터 폭증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233" y="504773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제조 공정과 운영 현장에서</a:t>
            </a:r>
            <a:br/>
            <a:r>
              <a:t>사람이 처리할 수 없는 수준의 데이터 발생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98321" y="482827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7233" y="480999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222"/>
                </a:solidFill>
                <a:latin typeface="맑은 고딕"/>
              </a:defRPr>
            </a:pPr>
            <a:r>
              <a:t>글로벌 경쟁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7233" y="504773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중국 CATL은 5,000만 건 이상의</a:t>
            </a:r>
            <a:br/>
            <a:r>
              <a:t>데이터로 AI를 운영 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LG CNS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1" y="648112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LG</a:t>
            </a:r>
            <a:br/>
            <a:r>
              <a:t>CNS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801" y="64032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2222"/>
                </a:solidFill>
                <a:latin typeface="맑은 고딕"/>
              </a:defRPr>
            </a:pPr>
            <a:r>
              <a:t>AI 배터리 장비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801" y="96951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rPr dirty="0" err="1"/>
              <a:t>에이전틱</a:t>
            </a:r>
            <a:r>
              <a:rPr dirty="0"/>
              <a:t> AI </a:t>
            </a:r>
            <a:r>
              <a:rPr dirty="0" err="1"/>
              <a:t>기반</a:t>
            </a:r>
            <a:r>
              <a:rPr dirty="0"/>
              <a:t> — R&amp;D </a:t>
            </a:r>
            <a:r>
              <a:rPr dirty="0" err="1"/>
              <a:t>시험부터</a:t>
            </a:r>
            <a:r>
              <a:rPr dirty="0"/>
              <a:t> </a:t>
            </a:r>
            <a:r>
              <a:rPr dirty="0" err="1"/>
              <a:t>폐배터리</a:t>
            </a:r>
            <a:r>
              <a:rPr dirty="0"/>
              <a:t> </a:t>
            </a:r>
            <a:r>
              <a:rPr dirty="0" err="1"/>
              <a:t>처리까지</a:t>
            </a:r>
            <a:r>
              <a:rPr dirty="0"/>
              <a:t> 전 </a:t>
            </a:r>
            <a:r>
              <a:rPr dirty="0" err="1"/>
              <a:t>과정</a:t>
            </a:r>
            <a:r>
              <a:rPr dirty="0"/>
              <a:t> </a:t>
            </a:r>
            <a:r>
              <a:rPr dirty="0" err="1"/>
              <a:t>자동화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252001" y="1320708"/>
            <a:ext cx="4343400" cy="16002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593" y="1430436"/>
            <a:ext cx="4014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50034"/>
                </a:solidFill>
                <a:latin typeface="맑은 고딕"/>
              </a:defRPr>
            </a:pPr>
            <a:r>
              <a:t>AI가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93" y="1732188"/>
            <a:ext cx="4014216" cy="97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충방전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시험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장비에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AI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탑재</a:t>
            </a:r>
            <a:r>
              <a:rPr lang="en-US"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맑은 고딕"/>
                <a:sym typeface="Wingdings" panose="05000000000000000000" pitchFamily="2" charset="2"/>
              </a:rPr>
              <a:t>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실험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설계·분석·보고서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자동화</a:t>
            </a:r>
            <a:endParaRPr sz="1200" dirty="0">
              <a:solidFill>
                <a:srgbClr val="222222"/>
              </a:solidFill>
              <a:latin typeface="맑은 고딕"/>
            </a:endParaRP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배터리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활성화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장비에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AI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탑재</a:t>
            </a:r>
            <a:r>
              <a:rPr lang="en-US"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맑은 고딕"/>
                <a:sym typeface="Wingdings" panose="05000000000000000000" pitchFamily="2" charset="2"/>
              </a:rPr>
              <a:t>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공정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시간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단축</a:t>
            </a:r>
            <a:endParaRPr sz="1200" dirty="0">
              <a:solidFill>
                <a:srgbClr val="222222"/>
              </a:solidFill>
              <a:latin typeface="맑은 고딕"/>
            </a:endParaRP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폐배터리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방전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장비에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AI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탑재</a:t>
            </a:r>
            <a:r>
              <a:rPr lang="en-US"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맑은 고딕"/>
                <a:sym typeface="Wingdings" panose="05000000000000000000" pitchFamily="2" charset="2"/>
              </a:rPr>
              <a:t>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안전한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방전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조건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자동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계산</a:t>
            </a:r>
            <a:endParaRPr sz="1200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52601" y="1320708"/>
            <a:ext cx="4572000" cy="16002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7193" y="1430436"/>
            <a:ext cx="4242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50034"/>
                </a:solidFill>
                <a:latin typeface="맑은 고딕"/>
              </a:defRPr>
            </a:pPr>
            <a:r>
              <a:t>사용되는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7193" y="1732188"/>
            <a:ext cx="42428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충방전 사이클, 전압·전류·온도 측정값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배터리 활성화 공정의 전류 패턴 데이터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폐배터리의 전압, 온도, 전류 실시간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1" y="30689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88888"/>
                </a:solidFill>
                <a:latin typeface="맑은 고딕"/>
              </a:defRPr>
            </a:pPr>
            <a:r>
              <a:rPr dirty="0"/>
              <a:t>AI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흐름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252001" y="3312956"/>
            <a:ext cx="9396000" cy="9601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923337" y="3450116"/>
            <a:ext cx="1005840" cy="6858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👨‍🔬 연구원</a:t>
            </a:r>
            <a:br/>
            <a:r>
              <a:t>명령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9177" y="352326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85209" y="3450116"/>
            <a:ext cx="1005840" cy="68580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 w="19050"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50034"/>
                </a:solidFill>
                <a:latin typeface="맑은 고딕"/>
              </a:defRPr>
            </a:pPr>
            <a:r>
              <a:t>🤖 AI</a:t>
            </a:r>
            <a:br/>
            <a:r>
              <a:t>실험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49" y="352326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7081" y="3450116"/>
            <a:ext cx="1005840" cy="6858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⚙ 장비</a:t>
            </a:r>
            <a:br/>
            <a:r>
              <a:t>자동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2921" y="352326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08953" y="3450116"/>
            <a:ext cx="1005840" cy="68580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 w="19050"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50034"/>
                </a:solidFill>
                <a:latin typeface="맑은 고딕"/>
              </a:defRPr>
            </a:pPr>
            <a:r>
              <a:t>🤖 AI</a:t>
            </a:r>
            <a:br/>
            <a:r>
              <a:t>실시간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4793" y="352326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0825" y="3450116"/>
            <a:ext cx="1005840" cy="6858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5E20"/>
                </a:solidFill>
                <a:latin typeface="맑은 고딕"/>
              </a:defRPr>
            </a:pPr>
            <a:r>
              <a:t>📄 보고서</a:t>
            </a:r>
            <a:br/>
            <a:r>
              <a:t>자동 생성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2001" y="4519392"/>
            <a:ext cx="4206240" cy="109728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729" y="45651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0392B"/>
                </a:solidFill>
                <a:latin typeface="맑은 고딕"/>
              </a:defRPr>
            </a:pPr>
            <a:r>
              <a:t>BEFORE AI (기존)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9161" y="479371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연구원이 수작업으로 실험 조건 계산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161" y="50497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엑셀로 수동 분석 (수 시간 소요)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161" y="530577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폐배터리 방전 시 화재 위험에 노출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58241" y="4519392"/>
            <a:ext cx="4572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4586257" y="4994880"/>
            <a:ext cx="201168" cy="164592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915441" y="4519392"/>
            <a:ext cx="4732560" cy="109728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5169" y="45651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AE60"/>
                </a:solidFill>
                <a:latin typeface="맑은 고딕"/>
              </a:defRPr>
            </a:pPr>
            <a:r>
              <a:t>AFTER AI (현재)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2601" y="4793712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AI가 최적 실험 조건 즉시 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2601" y="5049744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실시간 자동 분석 및 보고서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2601" y="5305776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AI가 안전한 방전 조건 자동 계산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001" y="6224736"/>
            <a:ext cx="939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※ 에이전틱 AI(Agentic AI): 사람의 지시 없이도 스스로 판단·실행하는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Samsung SDI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1" y="664684"/>
            <a:ext cx="548640" cy="640080"/>
          </a:xfrm>
          <a:prstGeom prst="roundRect">
            <a:avLst>
              <a:gd name="adj" fmla="val 12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801" y="640326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2222"/>
                </a:solidFill>
                <a:latin typeface="맑은 고딕"/>
              </a:defRPr>
            </a:pPr>
            <a:r>
              <a:rPr dirty="0"/>
              <a:t>SBI </a:t>
            </a:r>
            <a:r>
              <a:rPr lang="en-US" dirty="0"/>
              <a:t>&amp; </a:t>
            </a:r>
            <a:r>
              <a:rPr dirty="0"/>
              <a:t>SBB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1" y="1412776"/>
            <a:ext cx="4343400" cy="1787624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593" y="1577090"/>
            <a:ext cx="4014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AI가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93" y="1878842"/>
            <a:ext cx="40142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전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세계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1,400개+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배터리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현장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AI 24시간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감시·진단</a:t>
            </a:r>
            <a:endParaRPr sz="1200" dirty="0">
              <a:solidFill>
                <a:srgbClr val="222222"/>
              </a:solidFill>
              <a:latin typeface="맑은 고딕"/>
            </a:endParaRP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이상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징후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사전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감지·수명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예측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후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진단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리포트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자동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생성</a:t>
            </a:r>
            <a:endParaRPr sz="1200" dirty="0">
              <a:solidFill>
                <a:srgbClr val="222222"/>
              </a:solidFill>
              <a:latin typeface="맑은 고딕"/>
            </a:endParaRP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SBI가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SBB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내부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배터리를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원격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제어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위험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시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자동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전력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차단</a:t>
            </a:r>
            <a:endParaRPr sz="1200" dirty="0">
              <a:solidFill>
                <a:srgbClr val="222222"/>
              </a:solidFill>
              <a:latin typeface="맑은 고딕"/>
            </a:endParaRP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Vision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AI로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제조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공정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불량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자동</a:t>
            </a:r>
            <a:r>
              <a:rPr sz="12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맑은 고딕"/>
              </a:rPr>
              <a:t>검출</a:t>
            </a:r>
            <a:endParaRPr sz="1200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52601" y="1412775"/>
            <a:ext cx="4572000" cy="1787623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7193" y="1577090"/>
            <a:ext cx="4242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사용되는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7193" y="1878842"/>
            <a:ext cx="42428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전 세계 1,400개 배터리 현장의 운영 데이터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전압·온도·건강상태 센서 데이터, 성능 변화 추이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SBB 내부 배터리 상태 실시간 제어 데이터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제조 공정 검사 이미지, X-ray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1" y="33209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88888"/>
                </a:solidFill>
                <a:latin typeface="맑은 고딕"/>
              </a:defRPr>
            </a:pPr>
            <a:r>
              <a:t>AI 작업 흐름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1" y="3564984"/>
            <a:ext cx="9396000" cy="9601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52001" y="4779992"/>
            <a:ext cx="4206240" cy="109728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1729" y="48257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0392B"/>
                </a:solidFill>
                <a:latin typeface="맑은 고딕"/>
              </a:defRPr>
            </a:pPr>
            <a:r>
              <a:t>BEFORE AI (기존)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161" y="505431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사후 대응: 문제 발생 후 감지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161" y="53103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사람이 수동 데이터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161" y="556637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배터리 교체 시기 경험에 의존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58241" y="4779992"/>
            <a:ext cx="4572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4586257" y="5255480"/>
            <a:ext cx="201168" cy="164592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915441" y="4779992"/>
            <a:ext cx="4732560" cy="109728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5169" y="48257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AE60"/>
                </a:solidFill>
                <a:latin typeface="맑은 고딕"/>
              </a:defRPr>
            </a:pPr>
            <a:r>
              <a:t>AFTER AI (현재)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2601" y="5054312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사전 예방: AI가 이상 징후 미리 감지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2601" y="5310344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전 세계 1,400개 현장 AI 24시간 자동 감시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2601" y="5566376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정확한 수명 예측으로 최적 교체 시기 결정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000" y="6080697"/>
            <a:ext cx="93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rPr dirty="0"/>
              <a:t>※ SBI</a:t>
            </a:r>
            <a:r>
              <a:rPr lang="en-US" dirty="0"/>
              <a:t>(Samsung Battery Intelligence)</a:t>
            </a:r>
            <a:r>
              <a:rPr dirty="0"/>
              <a:t>: AI </a:t>
            </a:r>
            <a:r>
              <a:rPr dirty="0" err="1"/>
              <a:t>배터리</a:t>
            </a:r>
            <a:r>
              <a:rPr dirty="0"/>
              <a:t> </a:t>
            </a:r>
            <a:r>
              <a:rPr dirty="0" err="1"/>
              <a:t>진단</a:t>
            </a:r>
            <a:r>
              <a:rPr dirty="0"/>
              <a:t> </a:t>
            </a:r>
            <a:r>
              <a:rPr dirty="0" err="1"/>
              <a:t>소프트웨어</a:t>
            </a:r>
            <a:r>
              <a:rPr dirty="0"/>
              <a:t>    ※ SBB(Samsung Battery Box): </a:t>
            </a:r>
            <a:r>
              <a:rPr dirty="0" err="1"/>
              <a:t>SBI가</a:t>
            </a:r>
            <a:r>
              <a:rPr dirty="0"/>
              <a:t> </a:t>
            </a:r>
            <a:r>
              <a:rPr dirty="0" err="1"/>
              <a:t>AI로</a:t>
            </a:r>
            <a:r>
              <a:rPr dirty="0"/>
              <a:t> </a:t>
            </a:r>
            <a:r>
              <a:rPr dirty="0" err="1"/>
              <a:t>관리하는</a:t>
            </a:r>
            <a:r>
              <a:rPr dirty="0"/>
              <a:t> </a:t>
            </a:r>
            <a:r>
              <a:rPr dirty="0" err="1"/>
              <a:t>대용량</a:t>
            </a:r>
            <a:r>
              <a:rPr dirty="0"/>
              <a:t> </a:t>
            </a:r>
            <a:r>
              <a:rPr dirty="0" err="1"/>
              <a:t>배터리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장치</a:t>
            </a:r>
            <a:endParaRPr lang="en-US" dirty="0"/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rPr dirty="0"/>
              <a:t>※ Vision AI: </a:t>
            </a:r>
            <a:r>
              <a:rPr dirty="0" err="1"/>
              <a:t>카메라·X-ray</a:t>
            </a:r>
            <a:r>
              <a:rPr dirty="0"/>
              <a:t> </a:t>
            </a:r>
            <a:r>
              <a:rPr dirty="0" err="1"/>
              <a:t>이미지를</a:t>
            </a:r>
            <a:r>
              <a:rPr dirty="0"/>
              <a:t>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, </a:t>
            </a:r>
            <a:r>
              <a:rPr dirty="0" err="1"/>
              <a:t>불량</a:t>
            </a:r>
            <a:r>
              <a:rPr dirty="0"/>
              <a:t> </a:t>
            </a:r>
            <a:r>
              <a:rPr dirty="0" err="1"/>
              <a:t>검출</a:t>
            </a: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079FC4-9B72-52E5-530C-AD8B228A0A62}"/>
              </a:ext>
            </a:extLst>
          </p:cNvPr>
          <p:cNvSpPr txBox="1"/>
          <p:nvPr/>
        </p:nvSpPr>
        <p:spPr>
          <a:xfrm>
            <a:off x="937801" y="969510"/>
            <a:ext cx="7315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rPr lang="en-US" altLang="ko-KR" dirty="0"/>
              <a:t>AI </a:t>
            </a:r>
            <a:r>
              <a:rPr lang="ko-KR" altLang="en-US" dirty="0"/>
              <a:t>기반 </a:t>
            </a:r>
            <a:r>
              <a:rPr lang="en-US" altLang="ko-KR" dirty="0"/>
              <a:t>— </a:t>
            </a:r>
            <a:r>
              <a:rPr lang="ko-KR" altLang="en-US" dirty="0"/>
              <a:t>전 세계 </a:t>
            </a:r>
            <a:r>
              <a:rPr lang="en-US" altLang="ko-KR" dirty="0"/>
              <a:t>1,400</a:t>
            </a:r>
            <a:r>
              <a:rPr lang="ko-KR" altLang="en-US" dirty="0"/>
              <a:t>개 배터리 현장 </a:t>
            </a:r>
            <a:r>
              <a:rPr lang="en-US" altLang="ko-KR" dirty="0"/>
              <a:t>24</a:t>
            </a:r>
            <a:r>
              <a:rPr lang="ko-KR" altLang="en-US" dirty="0"/>
              <a:t>시간 진단</a:t>
            </a:r>
            <a:r>
              <a:rPr lang="en-US" altLang="ko-KR" dirty="0"/>
              <a:t>, </a:t>
            </a:r>
            <a:r>
              <a:rPr lang="ko-KR" altLang="en-US" dirty="0"/>
              <a:t>사고 예방</a:t>
            </a:r>
          </a:p>
        </p:txBody>
      </p:sp>
      <p:sp>
        <p:nvSpPr>
          <p:cNvPr id="45" name="Rounded Rectangle 15"/>
          <p:cNvSpPr/>
          <p:nvPr/>
        </p:nvSpPr>
        <p:spPr>
          <a:xfrm>
            <a:off x="2396716" y="3702144"/>
            <a:ext cx="968521" cy="685800"/>
          </a:xfrm>
          <a:prstGeom prst="roundRect">
            <a:avLst>
              <a:gd name="adj" fmla="val 12000"/>
            </a:avLst>
          </a:prstGeom>
          <a:solidFill>
            <a:srgbClr val="E8EAF6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🤖 SBI</a:t>
            </a:r>
            <a:br/>
            <a:r>
              <a:t>24시간 감시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5237" y="377529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2980" y="377529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rPr dirty="0"/>
              <a:t>➡</a:t>
            </a:r>
          </a:p>
        </p:txBody>
      </p:sp>
      <p:sp>
        <p:nvSpPr>
          <p:cNvPr id="48" name="Rounded Rectangle 19"/>
          <p:cNvSpPr/>
          <p:nvPr/>
        </p:nvSpPr>
        <p:spPr>
          <a:xfrm>
            <a:off x="5029011" y="3702144"/>
            <a:ext cx="1099293" cy="685800"/>
          </a:xfrm>
          <a:prstGeom prst="roundRect">
            <a:avLst>
              <a:gd name="adj" fmla="val 12000"/>
            </a:avLst>
          </a:prstGeom>
          <a:solidFill>
            <a:srgbClr val="E8EAF6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🤖 SBB</a:t>
            </a:r>
            <a:br/>
            <a:r>
              <a:t>원격 제어·차단</a:t>
            </a:r>
          </a:p>
        </p:txBody>
      </p:sp>
      <p:sp>
        <p:nvSpPr>
          <p:cNvPr id="49" name="Rounded Rectangle 17"/>
          <p:cNvSpPr/>
          <p:nvPr/>
        </p:nvSpPr>
        <p:spPr>
          <a:xfrm>
            <a:off x="3621268" y="3702144"/>
            <a:ext cx="1099293" cy="685800"/>
          </a:xfrm>
          <a:prstGeom prst="roundRect">
            <a:avLst>
              <a:gd name="adj" fmla="val 12000"/>
            </a:avLst>
          </a:prstGeom>
          <a:solidFill>
            <a:srgbClr val="E8EAF6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🤖 이상 징후</a:t>
            </a:r>
            <a:br/>
            <a:r>
              <a:t>감지·수명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1132" y="377529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51" name="Rounded Rectangle 21"/>
          <p:cNvSpPr/>
          <p:nvPr/>
        </p:nvSpPr>
        <p:spPr>
          <a:xfrm>
            <a:off x="6397164" y="3702144"/>
            <a:ext cx="1220132" cy="685800"/>
          </a:xfrm>
          <a:prstGeom prst="roundRect">
            <a:avLst>
              <a:gd name="adj" fmla="val 12000"/>
            </a:avLst>
          </a:prstGeom>
          <a:solidFill>
            <a:srgbClr val="E8EAF6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rPr dirty="0"/>
              <a:t>🤖 Vision AI</a:t>
            </a:r>
            <a:br>
              <a:rPr dirty="0"/>
            </a:br>
            <a:r>
              <a:rPr dirty="0" err="1"/>
              <a:t>불량</a:t>
            </a:r>
            <a:r>
              <a:rPr dirty="0"/>
              <a:t> </a:t>
            </a:r>
            <a:r>
              <a:rPr dirty="0" err="1"/>
              <a:t>검출</a:t>
            </a:r>
            <a:endParaRPr dirty="0"/>
          </a:p>
        </p:txBody>
      </p:sp>
      <p:sp>
        <p:nvSpPr>
          <p:cNvPr id="54" name="Rounded Rectangle 13"/>
          <p:cNvSpPr/>
          <p:nvPr/>
        </p:nvSpPr>
        <p:spPr>
          <a:xfrm>
            <a:off x="956556" y="3702144"/>
            <a:ext cx="1112879" cy="6858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🔋 현장 데이터</a:t>
            </a:r>
            <a:br/>
            <a:r>
              <a:t>수집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88509" y="377529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rPr dirty="0"/>
              <a:t>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6712" y="377529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57" name="Rounded Rectangle 23"/>
          <p:cNvSpPr/>
          <p:nvPr/>
        </p:nvSpPr>
        <p:spPr>
          <a:xfrm>
            <a:off x="7892743" y="3702144"/>
            <a:ext cx="1171221" cy="6858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5E20"/>
                </a:solidFill>
                <a:latin typeface="맑은 고딕"/>
              </a:defRPr>
            </a:pPr>
            <a:r>
              <a:t>📄 진단 리포트</a:t>
            </a:r>
            <a:br/>
            <a:r>
              <a:t>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SK 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1" y="648112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22"/>
                </a:solidFill>
                <a:latin typeface="맑은 고딕"/>
              </a:defRPr>
            </a:pPr>
            <a:r>
              <a:rPr dirty="0"/>
              <a:t>SK</a:t>
            </a:r>
            <a:br>
              <a:rPr dirty="0"/>
            </a:br>
            <a:r>
              <a:rPr dirty="0"/>
              <a:t>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801" y="64032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2222"/>
                </a:solidFill>
                <a:latin typeface="맑은 고딕"/>
              </a:defRPr>
            </a:pPr>
            <a:r>
              <a:t>ADAM &amp; AI 연구원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801" y="96951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AI 기반 — AI 연구원이 배터리 설계~성능 예측을 자동 수행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1" y="1305018"/>
            <a:ext cx="4343400" cy="176394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593" y="1414746"/>
            <a:ext cx="4014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B500"/>
                </a:solidFill>
                <a:latin typeface="맑은 고딕"/>
              </a:defRPr>
            </a:pPr>
            <a:r>
              <a:t>AI가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93" y="1716498"/>
            <a:ext cx="40142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셀 설계 AI: 고객 요청서 수신 시 다수 설계안 자동 생성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성능 예측 AI: 실제 배터리 제작 없이 성능 사전 예측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원가 산출 AI: 재료비·공정비 등 제조 비용 자동 계산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비전 AI로 불량 검출, 초기 데이터로 수명 예측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52601" y="1305018"/>
            <a:ext cx="4572000" cy="176394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7193" y="1414746"/>
            <a:ext cx="4242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B500"/>
                </a:solidFill>
                <a:latin typeface="맑은 고딕"/>
              </a:defRPr>
            </a:pPr>
            <a:r>
              <a:t>사용되는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7193" y="1716498"/>
            <a:ext cx="42428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과거 배터리 셀 설계 데이터베이스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배터리 소재 특성·성능 시험 결과 데이터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원가 데이터 (재료비·공정비)</a:t>
            </a:r>
          </a:p>
          <a:p>
            <a:pPr>
              <a:lnSpc>
                <a:spcPts val="2100"/>
              </a:lnSpc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AAAAAA"/>
                </a:solidFill>
                <a:latin typeface="맑은 고딕"/>
              </a:rPr>
              <a:t>▸ </a:t>
            </a:r>
            <a:r>
              <a:rPr sz="1200">
                <a:solidFill>
                  <a:srgbClr val="222222"/>
                </a:solidFill>
                <a:latin typeface="맑은 고딕"/>
              </a:rPr>
              <a:t>제조 공정 이미지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1" y="325385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88888"/>
                </a:solidFill>
                <a:latin typeface="맑은 고딕"/>
              </a:defRPr>
            </a:pPr>
            <a:r>
              <a:rPr dirty="0"/>
              <a:t>AI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흐름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252001" y="3528980"/>
            <a:ext cx="9396000" cy="9601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8544" y="3666140"/>
            <a:ext cx="1141661" cy="6858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👨‍🔬 고객 요청서</a:t>
            </a:r>
            <a:br/>
            <a:r>
              <a:t>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0205" y="373929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6237" y="3666140"/>
            <a:ext cx="885630" cy="6858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rPr dirty="0"/>
              <a:t>🤖 셀 </a:t>
            </a:r>
            <a:endParaRPr lang="en-US" dirty="0"/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rPr dirty="0" err="1"/>
              <a:t>설계</a:t>
            </a:r>
            <a:r>
              <a:rPr lang="en-US" dirty="0"/>
              <a:t> </a:t>
            </a:r>
            <a:r>
              <a:rPr dirty="0"/>
              <a:t>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2001" y="4743988"/>
            <a:ext cx="4206240" cy="109728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1729" y="478970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0392B"/>
                </a:solidFill>
                <a:latin typeface="맑은 고딕"/>
              </a:defRPr>
            </a:pPr>
            <a:r>
              <a:t>BEFORE AI (기존)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161" y="501830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연구원 수작업 셀 설계 (시행착오 반복)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161" y="52743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한 번에 하나의 설계안만 검토 가능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161" y="55303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원가 계산에 별도 팀과 수 주 소요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8241" y="4743988"/>
            <a:ext cx="4572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4586257" y="5219476"/>
            <a:ext cx="201168" cy="164592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915441" y="4743988"/>
            <a:ext cx="4732560" cy="109728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5169" y="478970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AE60"/>
                </a:solidFill>
                <a:latin typeface="맑은 고딕"/>
              </a:defRPr>
            </a:pPr>
            <a:r>
              <a:t>AFTER AI (현재)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2601" y="5018308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AI가 다수 설계안 동시 자동 생성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2601" y="5274340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실제 제작 없이 성능·원가 예측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2601" y="5530372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연구원은 안전성 판단·최종 결정에 집중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001" y="6161300"/>
            <a:ext cx="939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※ ADAM(AI-Based Design &amp; Analysis Machine): AI 배터리 설계 시스템    ※ RFQ(Request for Quotation): 고객이 원하는 배터리 사양 요청서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88804" y="373929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41" name="Rounded Rectangle 17"/>
          <p:cNvSpPr/>
          <p:nvPr/>
        </p:nvSpPr>
        <p:spPr>
          <a:xfrm>
            <a:off x="3444836" y="3666140"/>
            <a:ext cx="804672" cy="6858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t>🤖 성능</a:t>
            </a:r>
            <a:br/>
            <a:r>
              <a:t>예측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49508" y="373929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43" name="Rounded Rectangle 19"/>
          <p:cNvSpPr/>
          <p:nvPr/>
        </p:nvSpPr>
        <p:spPr>
          <a:xfrm>
            <a:off x="4505540" y="3666140"/>
            <a:ext cx="804672" cy="6858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t>🤖 원가</a:t>
            </a:r>
            <a:br/>
            <a:r>
              <a:t>산출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0212" y="373929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45" name="Rounded Rectangle 21"/>
          <p:cNvSpPr/>
          <p:nvPr/>
        </p:nvSpPr>
        <p:spPr>
          <a:xfrm>
            <a:off x="5566244" y="3666140"/>
            <a:ext cx="1078944" cy="6858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rPr dirty="0"/>
              <a:t>🤖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결과</a:t>
            </a:r>
            <a:br>
              <a:rPr dirty="0"/>
            </a:b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정리</a:t>
            </a: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6684020" y="373929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51" name="Rounded Rectangle 23"/>
          <p:cNvSpPr/>
          <p:nvPr/>
        </p:nvSpPr>
        <p:spPr>
          <a:xfrm>
            <a:off x="6940051" y="3666140"/>
            <a:ext cx="893269" cy="6858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👨‍🔬 연구원</a:t>
            </a:r>
            <a:br/>
            <a:r>
              <a:t>최종 판단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9324" y="373929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57" name="Rounded Rectangle 25"/>
          <p:cNvSpPr/>
          <p:nvPr/>
        </p:nvSpPr>
        <p:spPr>
          <a:xfrm>
            <a:off x="8125356" y="3666140"/>
            <a:ext cx="804672" cy="6858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5E20"/>
                </a:solidFill>
                <a:latin typeface="맑은 고딕"/>
              </a:defRPr>
            </a:pPr>
            <a:r>
              <a:t>✅ 최종</a:t>
            </a:r>
            <a:br/>
            <a:r>
              <a:t>설계안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3사 핵심 성과 &amp; 미래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1" y="667758"/>
            <a:ext cx="73152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rPr dirty="0"/>
              <a:t>AI </a:t>
            </a:r>
            <a:r>
              <a:rPr dirty="0" err="1"/>
              <a:t>도입</a:t>
            </a:r>
            <a:r>
              <a:rPr dirty="0"/>
              <a:t> </a:t>
            </a:r>
            <a:r>
              <a:rPr dirty="0" err="1"/>
              <a:t>성과와</a:t>
            </a:r>
            <a:r>
              <a:rPr dirty="0"/>
              <a:t> 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방향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120681" y="1079238"/>
            <a:ext cx="2560320" cy="320040"/>
          </a:xfrm>
          <a:prstGeom prst="roundRect">
            <a:avLst>
              <a:gd name="adj" fmla="val 6000"/>
            </a:avLst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681" y="109752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LG CNS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681" y="142671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LLM·에이전틱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9601" y="1079238"/>
            <a:ext cx="2560320" cy="320040"/>
          </a:xfrm>
          <a:prstGeom prst="roundRect">
            <a:avLst>
              <a:gd name="adj" fmla="val 6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9601" y="109752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Samsung SDI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9601" y="142671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AI 기반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8521" y="1079238"/>
            <a:ext cx="2560320" cy="320040"/>
          </a:xfrm>
          <a:prstGeom prst="roundRect">
            <a:avLst>
              <a:gd name="adj" fmla="val 6000"/>
            </a:avLst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8521" y="109752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222"/>
                </a:solidFill>
                <a:latin typeface="맑은 고딕"/>
              </a:defRPr>
            </a:pPr>
            <a:r>
              <a:t>SK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8521" y="142671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AI 기반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1" y="1719318"/>
            <a:ext cx="731520" cy="1828800"/>
          </a:xfrm>
          <a:prstGeom prst="roundRect">
            <a:avLst>
              <a:gd name="adj" fmla="val 6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</a:t>
            </a:r>
            <a:br/>
            <a:r>
              <a:t>성과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0681" y="1719318"/>
            <a:ext cx="8138160" cy="18288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95301" y="1810758"/>
            <a:ext cx="12700" cy="952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95301" y="1810758"/>
            <a:ext cx="12700" cy="16459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4221" y="1810758"/>
            <a:ext cx="12700" cy="952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4221" y="1810758"/>
            <a:ext cx="12700" cy="16459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2121" y="1856478"/>
            <a:ext cx="249174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생산성</a:t>
            </a:r>
            <a:r>
              <a:rPr dirty="0"/>
              <a:t> 30%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향상</a:t>
            </a:r>
            <a:r>
              <a:rPr dirty="0"/>
              <a:t> (AI </a:t>
            </a:r>
            <a:r>
              <a:rPr dirty="0" err="1"/>
              <a:t>도입</a:t>
            </a:r>
            <a:r>
              <a:rPr dirty="0"/>
              <a:t> 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2121" y="235939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LG에너지솔루션에 장비 20대 납품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2121" y="286231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AI 탑재 장비 3종 라인업 구축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1041" y="185647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전 세계 1,400개 현장 AI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1041" y="2359398"/>
            <a:ext cx="237744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SBI </a:t>
            </a:r>
            <a:r>
              <a:rPr dirty="0" err="1"/>
              <a:t>상용화</a:t>
            </a:r>
            <a:r>
              <a:rPr dirty="0"/>
              <a:t> </a:t>
            </a:r>
            <a:r>
              <a:rPr lang="ko-KR" altLang="en-US" dirty="0"/>
              <a:t>후 전 세계 </a:t>
            </a:r>
            <a:r>
              <a:rPr lang="en-US" altLang="ko-KR" dirty="0"/>
              <a:t>ESS </a:t>
            </a:r>
            <a:r>
              <a:rPr lang="ko-KR" altLang="en-US" dirty="0"/>
              <a:t>확대 적용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001041" y="286231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공정</a:t>
            </a:r>
            <a:r>
              <a:rPr dirty="0"/>
              <a:t> 500가지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항목</a:t>
            </a:r>
            <a:r>
              <a:rPr dirty="0"/>
              <a:t> AI </a:t>
            </a:r>
            <a:r>
              <a:rPr dirty="0" err="1"/>
              <a:t>체크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789961" y="185647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배터리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기간</a:t>
            </a:r>
            <a:r>
              <a:rPr dirty="0"/>
              <a:t> 1/3로 </a:t>
            </a:r>
            <a:r>
              <a:rPr dirty="0" err="1"/>
              <a:t>단축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789961" y="2359398"/>
            <a:ext cx="237744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lang="en-US" altLang="ko-KR" sz="1200" dirty="0">
                <a:solidFill>
                  <a:srgbClr val="222222"/>
                </a:solidFill>
                <a:latin typeface="맑은 고딕"/>
              </a:rPr>
              <a:t>ADAM </a:t>
            </a:r>
            <a:r>
              <a:rPr lang="ko-KR" altLang="en-US" sz="1200" dirty="0">
                <a:solidFill>
                  <a:srgbClr val="222222"/>
                </a:solidFill>
                <a:latin typeface="맑은 고딕"/>
              </a:rPr>
              <a:t>시스템 실제 셀 개발 업무에 적용</a:t>
            </a:r>
            <a:endParaRPr sz="1200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89961" y="2862318"/>
            <a:ext cx="237744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rPr sz="1200" dirty="0">
                <a:solidFill>
                  <a:srgbClr val="222222"/>
                </a:solidFill>
                <a:latin typeface="맑은 고딕"/>
              </a:rPr>
              <a:t>▸ </a:t>
            </a:r>
            <a:r>
              <a:rPr lang="en-US" sz="1200" dirty="0">
                <a:solidFill>
                  <a:srgbClr val="222222"/>
                </a:solidFill>
                <a:latin typeface="맑은 고딕"/>
              </a:rPr>
              <a:t>AI </a:t>
            </a:r>
            <a:r>
              <a:rPr lang="ko-KR" altLang="en-US" sz="1200" dirty="0">
                <a:solidFill>
                  <a:srgbClr val="222222"/>
                </a:solidFill>
                <a:latin typeface="맑은 고딕"/>
              </a:rPr>
              <a:t>기반 배터리 안전 전략 </a:t>
            </a:r>
            <a:r>
              <a:rPr lang="en-US" altLang="ko-KR" sz="1200" dirty="0">
                <a:solidFill>
                  <a:srgbClr val="222222"/>
                </a:solidFill>
                <a:latin typeface="맑은 고딕"/>
              </a:rPr>
              <a:t>(3P-Zero) </a:t>
            </a:r>
            <a:r>
              <a:rPr lang="ko-KR" altLang="en-US" sz="1200" dirty="0">
                <a:solidFill>
                  <a:srgbClr val="222222"/>
                </a:solidFill>
                <a:latin typeface="맑은 고딕"/>
              </a:rPr>
              <a:t>수립</a:t>
            </a:r>
            <a:endParaRPr sz="1200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52001" y="3868158"/>
            <a:ext cx="731520" cy="1828800"/>
          </a:xfrm>
          <a:prstGeom prst="roundRect">
            <a:avLst>
              <a:gd name="adj" fmla="val 6000"/>
            </a:avLst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미래</a:t>
            </a:r>
            <a:br/>
            <a:r>
              <a:t>계획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0681" y="3868158"/>
            <a:ext cx="8138160" cy="18288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795301" y="3959598"/>
            <a:ext cx="12700" cy="16459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4221" y="3959598"/>
            <a:ext cx="12700" cy="16459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12121" y="400531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R&amp;D~생산~재활용</a:t>
            </a:r>
            <a:r>
              <a:rPr dirty="0"/>
              <a:t> 전 </a:t>
            </a:r>
            <a:r>
              <a:rPr dirty="0" err="1"/>
              <a:t>과정</a:t>
            </a:r>
            <a:r>
              <a:rPr dirty="0"/>
              <a:t> AI </a:t>
            </a:r>
            <a:r>
              <a:rPr dirty="0" err="1"/>
              <a:t>확대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1212121" y="450823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배터리 산업 데이터 통합 플랫폼 구축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2121" y="501115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AI 장비 라인업 지속 확대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1041" y="400531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SBI 2026년 10월 상용화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1041" y="450823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차세대 전고체 배터리 2027 양산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1041" y="501115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로봇용 AI 배터리 사업 확대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9961" y="400531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2028년 배터리 전용 AI 구축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9961" y="450823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AI로 배터리 소재 개발 자동화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9961" y="501115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▸ 설계~영업까지 전사적 AI 확대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001" y="6093296"/>
            <a:ext cx="93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rPr dirty="0"/>
              <a:t>※ </a:t>
            </a:r>
            <a:r>
              <a:rPr dirty="0" err="1"/>
              <a:t>전고체</a:t>
            </a:r>
            <a:r>
              <a:rPr dirty="0"/>
              <a:t> </a:t>
            </a:r>
            <a:r>
              <a:rPr dirty="0" err="1"/>
              <a:t>배터리</a:t>
            </a:r>
            <a:r>
              <a:rPr dirty="0"/>
              <a:t>: </a:t>
            </a:r>
            <a:r>
              <a:rPr dirty="0" err="1"/>
              <a:t>액체</a:t>
            </a:r>
            <a:r>
              <a:rPr dirty="0"/>
              <a:t> </a:t>
            </a:r>
            <a:r>
              <a:rPr dirty="0" err="1"/>
              <a:t>전해질을</a:t>
            </a:r>
            <a:r>
              <a:rPr dirty="0"/>
              <a:t> </a:t>
            </a:r>
            <a:r>
              <a:rPr dirty="0" err="1"/>
              <a:t>고체로</a:t>
            </a:r>
            <a:r>
              <a:rPr dirty="0"/>
              <a:t> </a:t>
            </a:r>
            <a:r>
              <a:rPr dirty="0" err="1"/>
              <a:t>대체한</a:t>
            </a:r>
            <a:r>
              <a:rPr dirty="0"/>
              <a:t> </a:t>
            </a:r>
            <a:r>
              <a:rPr dirty="0" err="1"/>
              <a:t>차세대</a:t>
            </a:r>
            <a:r>
              <a:rPr dirty="0"/>
              <a:t> </a:t>
            </a:r>
            <a:r>
              <a:rPr dirty="0" err="1"/>
              <a:t>배터리</a:t>
            </a:r>
            <a:r>
              <a:rPr dirty="0"/>
              <a:t>. </a:t>
            </a:r>
            <a:r>
              <a:rPr dirty="0" err="1"/>
              <a:t>화재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대폭</a:t>
            </a:r>
            <a:r>
              <a:rPr dirty="0"/>
              <a:t> </a:t>
            </a:r>
            <a:r>
              <a:rPr dirty="0" err="1"/>
              <a:t>감소</a:t>
            </a:r>
            <a:r>
              <a:rPr dirty="0"/>
              <a:t>,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밀도</a:t>
            </a:r>
            <a:r>
              <a:rPr dirty="0"/>
              <a:t> 40% </a:t>
            </a:r>
            <a:r>
              <a:rPr dirty="0" err="1"/>
              <a:t>향상</a:t>
            </a:r>
            <a:endParaRPr lang="en-US" dirty="0"/>
          </a:p>
          <a:p>
            <a:pPr>
              <a:lnSpc>
                <a:spcPts val="1200"/>
              </a:lnSpc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rPr lang="en-US" altLang="ko-KR" dirty="0"/>
              <a:t>※ 3P(Prevent, Protect, Predict): </a:t>
            </a:r>
            <a:r>
              <a:rPr lang="ko-KR" altLang="en-US" dirty="0"/>
              <a:t>소재로 사고 원인 차단</a:t>
            </a:r>
            <a:r>
              <a:rPr lang="en-US" altLang="ko-KR" dirty="0"/>
              <a:t>, </a:t>
            </a:r>
            <a:r>
              <a:rPr lang="ko-KR" altLang="en-US" dirty="0"/>
              <a:t>시스템으로 이상 감지</a:t>
            </a:r>
            <a:r>
              <a:rPr lang="en-US" altLang="ko-KR" dirty="0"/>
              <a:t>, AI</a:t>
            </a:r>
            <a:r>
              <a:rPr lang="ko-KR" altLang="en-US" dirty="0"/>
              <a:t>로 위험 사전 예측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buchet MS &amp; 휴먼모음T">
      <a:majorFont>
        <a:latin typeface="Trebuchet MS"/>
        <a:ea typeface="휴먼모음T"/>
        <a:cs typeface=""/>
      </a:majorFont>
      <a:minorFont>
        <a:latin typeface="Trebuchet MS"/>
        <a:ea typeface="휴먼모음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1">
              <a:lumMod val="65000"/>
            </a:schemeClr>
          </a:solidFill>
        </a:ln>
        <a:effectLst>
          <a:outerShdw dist="25400" dir="2700000" algn="ctr" rotWithShape="0">
            <a:schemeClr val="bg1">
              <a:lumMod val="50000"/>
            </a:schemeClr>
          </a:outerShdw>
        </a:effectLst>
      </a:spPr>
      <a:bodyPr lIns="108000" tIns="36000" rIns="108000" bIns="36000" rtlCol="0" anchor="ctr"/>
      <a:lstStyle>
        <a:defPPr algn="ctr">
          <a:defRPr sz="1200" dirty="0">
            <a:solidFill>
              <a:schemeClr val="tx1"/>
            </a:solidFill>
            <a:latin typeface="Trebuchet MS" pitchFamily="34" charset="0"/>
            <a:ea typeface="휴먼모음T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36000" rtlCol="0">
        <a:spAutoFit/>
      </a:bodyPr>
      <a:lstStyle>
        <a:defPPr>
          <a:defRPr sz="1200" dirty="0" err="1" smtClean="0">
            <a:solidFill>
              <a:schemeClr val="tx1"/>
            </a:solidFill>
            <a:latin typeface="Trebuchet MS" pitchFamily="34" charset="0"/>
            <a:ea typeface="휴먼모음T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c3e313d-adbc-460d-92e1-b20580541235}" enabled="1" method="Privileged" siteId="{f8cedb79-e3e0-481e-be04-2a5cc79f6b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10496</TotalTime>
  <Words>1058</Words>
  <Application>Microsoft Office PowerPoint</Application>
  <PresentationFormat>A4 용지(210x297mm)</PresentationFormat>
  <Paragraphs>163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맑은 고딕</vt:lpstr>
      <vt:lpstr>현대하모니 L</vt:lpstr>
      <vt:lpstr>현대하모니 M</vt:lpstr>
      <vt:lpstr>Arial</vt:lpstr>
      <vt:lpstr>Trebuchet MS</vt:lpstr>
      <vt:lpstr>Wingdings</vt:lpstr>
      <vt:lpstr>Office 테마</vt:lpstr>
      <vt:lpstr>빅 3사의 AI 활용 현황 분석</vt:lpstr>
      <vt:lpstr>빅 3사 AI 핵심 전략</vt:lpstr>
      <vt:lpstr>LG CNS</vt:lpstr>
      <vt:lpstr>Samsung SDI</vt:lpstr>
      <vt:lpstr>SK ON</vt:lpstr>
      <vt:lpstr>3사 핵심 성과 &amp; 미래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bealmighty</dc:creator>
  <cp:lastModifiedBy>Mingyu Kang(강민규)[Algorithm Development Team]</cp:lastModifiedBy>
  <cp:revision>624</cp:revision>
  <dcterms:created xsi:type="dcterms:W3CDTF">2010-01-22T06:43:33Z</dcterms:created>
  <dcterms:modified xsi:type="dcterms:W3CDTF">2026-03-31T07:49:12Z</dcterms:modified>
</cp:coreProperties>
</file>