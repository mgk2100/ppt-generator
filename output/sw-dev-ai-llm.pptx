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21"/>
  </p:notesMasterIdLst>
  <p:sldIdLst>
    <p:sldId id="256" r:id="rId10"/>
    <p:sldId id="257" r:id="rId11"/>
  </p:sldIdLst>
  <p:sldSz cx="12192000" cy="6858000"/>
  <p:notesSz cx="6807200" cy="9939338"/>
  <p:custShowLst>
    <p:custShow name="1.고객NDA관리체계" id="0">
      <p:sldLst/>
    </p:custShow>
    <p:custShow name="2.로봇대외소통운영체계" id="1">
      <p:sldLst/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8A7B27D-4895-48C8-96B0-4FAA96803FFE}">
          <p14:sldIdLst>
            <p14:sldId id="263"/>
            <p14:sldId id="2147470828"/>
            <p14:sldId id="2147470835"/>
            <p14:sldId id="2147470759"/>
            <p14:sldId id="2147470840"/>
            <p14:sldId id="2147470838"/>
            <p14:sldId id="2147470827"/>
            <p14:sldId id="2147470754"/>
            <p14:sldId id="2147470778"/>
            <p14:sldId id="2147470776"/>
            <p14:sldId id="2147470855"/>
            <p14:sldId id="2147470851"/>
            <p14:sldId id="2147470853"/>
            <p14:sldId id="2147470773"/>
            <p14:sldId id="2147470847"/>
            <p14:sldId id="2147470846"/>
          </p14:sldIdLst>
        </p14:section>
      </p14:sectionLst>
    </p:ext>
    <p:ext uri="{EFAFB233-063F-42B5-8137-9DF3F51BA10A}">
      <p15:sldGuideLst xmlns:p15="http://schemas.microsoft.com/office/powerpoint/2012/main">
        <p15:guide id="1" pos="211" userDrawn="1">
          <p15:clr>
            <a:srgbClr val="A4A3A4"/>
          </p15:clr>
        </p15:guide>
        <p15:guide id="2" pos="7478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2E9"/>
    <a:srgbClr val="075AAC"/>
    <a:srgbClr val="0C5DD1"/>
    <a:srgbClr val="6EB4F7"/>
    <a:srgbClr val="A9B9C8"/>
    <a:srgbClr val="9EAEBE"/>
    <a:srgbClr val="002181"/>
    <a:srgbClr val="0042D3"/>
    <a:srgbClr val="0546DC"/>
    <a:srgbClr val="053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37" autoAdjust="0"/>
    <p:restoredTop sz="88715" autoAdjust="0"/>
  </p:normalViewPr>
  <p:slideViewPr>
    <p:cSldViewPr snapToGrid="0">
      <p:cViewPr varScale="1">
        <p:scale>
          <a:sx n="92" d="100"/>
          <a:sy n="92" d="100"/>
        </p:scale>
        <p:origin x="91" y="82"/>
      </p:cViewPr>
      <p:guideLst>
        <p:guide pos="211"/>
        <p:guide pos="7478"/>
        <p:guide orient="horz" pos="15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205FEB22-91EC-4C75-9C96-9A2D52CB21BA}" type="datetimeFigureOut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92D91C1-800D-4762-940B-83A67F9DA90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6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14D2-0A53-4595-9141-811ACD4C19B9}" type="datetimeFigureOut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8E146-8BA9-40DE-986D-7CA8BDEFB0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62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C66D59-CBEB-0E4A-810B-AC11EDED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" y="180006"/>
            <a:ext cx="11564308" cy="68210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F9FC47-B408-67D4-3D1D-E90EED40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53" y="792002"/>
            <a:ext cx="11564308" cy="460502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22825E-DFB0-F33F-EB46-C1D1D7F8096E}"/>
              </a:ext>
            </a:extLst>
          </p:cNvPr>
          <p:cNvCxnSpPr/>
          <p:nvPr userDrawn="1"/>
        </p:nvCxnSpPr>
        <p:spPr>
          <a:xfrm>
            <a:off x="310153" y="612000"/>
            <a:ext cx="115643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FEFA407-7CF1-5094-B493-9D60AB028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815" y="287810"/>
            <a:ext cx="429765" cy="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7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931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1" y="3619736"/>
            <a:ext cx="9144000" cy="161750"/>
          </a:xfrm>
        </p:spPr>
        <p:txBody>
          <a:bodyPr lIns="36000" tIns="0" rIns="36000" bIns="36000">
            <a:noAutofit/>
          </a:bodyPr>
          <a:lstStyle>
            <a:lvl1pPr marL="0" indent="0" algn="ctr">
              <a:buNone/>
              <a:defRPr sz="1572" b="1" spc="295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449316" indent="0" algn="ctr">
              <a:buNone/>
              <a:defRPr sz="1966"/>
            </a:lvl2pPr>
            <a:lvl3pPr marL="898631" indent="0" algn="ctr">
              <a:buNone/>
              <a:defRPr sz="1769"/>
            </a:lvl3pPr>
            <a:lvl4pPr marL="1347947" indent="0" algn="ctr">
              <a:buNone/>
              <a:defRPr sz="1572"/>
            </a:lvl4pPr>
            <a:lvl5pPr marL="1797263" indent="0" algn="ctr">
              <a:buNone/>
              <a:defRPr sz="1572"/>
            </a:lvl5pPr>
            <a:lvl6pPr marL="2246579" indent="0" algn="ctr">
              <a:buNone/>
              <a:defRPr sz="1572"/>
            </a:lvl6pPr>
            <a:lvl7pPr marL="2695894" indent="0" algn="ctr">
              <a:buNone/>
              <a:defRPr sz="1572"/>
            </a:lvl7pPr>
            <a:lvl8pPr marL="3145210" indent="0" algn="ctr">
              <a:buNone/>
              <a:defRPr sz="1572"/>
            </a:lvl8pPr>
            <a:lvl9pPr marL="3594525" indent="0" algn="ctr">
              <a:buNone/>
              <a:defRPr sz="1572"/>
            </a:lvl9pPr>
          </a:lstStyle>
          <a:p>
            <a:r>
              <a:rPr lang="en-US" altLang="ko-KR"/>
              <a:t>25.00.00</a:t>
            </a:r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227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F21E8EF-DF05-D132-C1A1-0FB7974EBEEB}"/>
              </a:ext>
            </a:extLst>
          </p:cNvPr>
          <p:cNvSpPr txBox="1"/>
          <p:nvPr userDrawn="1"/>
        </p:nvSpPr>
        <p:spPr>
          <a:xfrm>
            <a:off x="172899" y="6538477"/>
            <a:ext cx="2100333" cy="252913"/>
          </a:xfrm>
          <a:prstGeom prst="rect">
            <a:avLst/>
          </a:prstGeom>
          <a:noFill/>
        </p:spPr>
        <p:txBody>
          <a:bodyPr wrap="square" lIns="35381" tIns="35381" rIns="35381" bIns="35381" rtlCol="0" anchor="ctr">
            <a:spAutoFit/>
          </a:bodyPr>
          <a:lstStyle/>
          <a:p>
            <a:pPr algn="l"/>
            <a:r>
              <a:rPr lang="ko-KR" altLang="en-US" sz="1179" b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전동화사업부</a:t>
            </a:r>
          </a:p>
        </p:txBody>
      </p:sp>
    </p:spTree>
    <p:extLst>
      <p:ext uri="{BB962C8B-B14F-4D97-AF65-F5344CB8AC3E}">
        <p14:creationId xmlns:p14="http://schemas.microsoft.com/office/powerpoint/2010/main" val="1958712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1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BDD17969-1DD1-76F2-67D9-034ADAA869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77510" y="6587702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latinLnBrk="0" hangingPunct="0">
              <a:buFont typeface="Wingdings" pitchFamily="2" charset="2"/>
              <a:buNone/>
              <a:defRPr kumimoji="0" sz="1032" b="0">
                <a:solidFill>
                  <a:srgbClr val="080808"/>
                </a:solidFill>
                <a:latin typeface="Noto Sans KR Light" panose="020B0200000000000000" pitchFamily="50" charset="-127"/>
                <a:ea typeface="돋움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5926556F-76A3-4143-906C-5017C401F288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cxnSp>
        <p:nvCxnSpPr>
          <p:cNvPr id="4" name="직선 연결선 2">
            <a:extLst>
              <a:ext uri="{FF2B5EF4-FFF2-40B4-BE49-F238E27FC236}">
                <a16:creationId xmlns:a16="http://schemas.microsoft.com/office/drawing/2014/main" id="{4DDB7F78-676B-EDDD-4456-09653D72680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1" y="468703"/>
            <a:ext cx="11348544" cy="0"/>
          </a:xfrm>
          <a:prstGeom prst="line">
            <a:avLst/>
          </a:prstGeom>
          <a:noFill/>
          <a:ln w="12700" algn="ctr">
            <a:gradFill flip="none" rotWithShape="1">
              <a:gsLst>
                <a:gs pos="0">
                  <a:srgbClr val="003377"/>
                </a:gs>
                <a:gs pos="10000">
                  <a:srgbClr val="003377"/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FEEBA5-1A74-2937-E863-2CCED5843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" y="0"/>
            <a:ext cx="10363200" cy="468702"/>
          </a:xfrm>
        </p:spPr>
        <p:txBody>
          <a:bodyPr lIns="216000" tIns="72000" rIns="36000" bIns="0" anchor="ctr">
            <a:noAutofit/>
          </a:bodyPr>
          <a:lstStyle>
            <a:lvl1pPr algn="l">
              <a:defRPr sz="2359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B4C383-FD75-4AAE-F67F-86F25BEA39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815" y="287810"/>
            <a:ext cx="429765" cy="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14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en-US"/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563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15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케치, 그림, 라인 아트, 선그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81776ED-94E8-D928-EF42-96CB439373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1303758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2359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5981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마무리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B755D0-2681-F6D8-C820-5E0EA1D03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14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en-US"/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563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49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C66D59-CBEB-0E4A-810B-AC11EDED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" y="180006"/>
            <a:ext cx="11564308" cy="68210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F9FC47-B408-67D4-3D1D-E90EED40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53" y="792002"/>
            <a:ext cx="11564308" cy="460502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22825E-DFB0-F33F-EB46-C1D1D7F8096E}"/>
              </a:ext>
            </a:extLst>
          </p:cNvPr>
          <p:cNvCxnSpPr/>
          <p:nvPr userDrawn="1"/>
        </p:nvCxnSpPr>
        <p:spPr>
          <a:xfrm>
            <a:off x="310153" y="612000"/>
            <a:ext cx="115643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36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D78C89-A8B2-1AF4-D97C-6943F9CED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789552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931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1" y="3489107"/>
            <a:ext cx="9144000" cy="161750"/>
          </a:xfrm>
        </p:spPr>
        <p:txBody>
          <a:bodyPr lIns="36000" tIns="0" rIns="36000" bIns="36000">
            <a:noAutofit/>
          </a:bodyPr>
          <a:lstStyle>
            <a:lvl1pPr marL="0" indent="0" algn="ctr">
              <a:buNone/>
              <a:defRPr sz="1572" b="1" spc="295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449316" indent="0" algn="ctr">
              <a:buNone/>
              <a:defRPr sz="1966"/>
            </a:lvl2pPr>
            <a:lvl3pPr marL="898631" indent="0" algn="ctr">
              <a:buNone/>
              <a:defRPr sz="1769"/>
            </a:lvl3pPr>
            <a:lvl4pPr marL="1347947" indent="0" algn="ctr">
              <a:buNone/>
              <a:defRPr sz="1572"/>
            </a:lvl4pPr>
            <a:lvl5pPr marL="1797263" indent="0" algn="ctr">
              <a:buNone/>
              <a:defRPr sz="1572"/>
            </a:lvl5pPr>
            <a:lvl6pPr marL="2246579" indent="0" algn="ctr">
              <a:buNone/>
              <a:defRPr sz="1572"/>
            </a:lvl6pPr>
            <a:lvl7pPr marL="2695894" indent="0" algn="ctr">
              <a:buNone/>
              <a:defRPr sz="1572"/>
            </a:lvl7pPr>
            <a:lvl8pPr marL="3145210" indent="0" algn="ctr">
              <a:buNone/>
              <a:defRPr sz="1572"/>
            </a:lvl8pPr>
            <a:lvl9pPr marL="3594525" indent="0" algn="ctr">
              <a:buNone/>
              <a:defRPr sz="1572"/>
            </a:lvl9pPr>
          </a:lstStyle>
          <a:p>
            <a:r>
              <a:rPr lang="en-US" altLang="ko-KR"/>
              <a:t>25.00.00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422258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465EF8-98BA-C8B7-E1FF-EBAE9B332B3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4541" y="6569020"/>
            <a:ext cx="1151960" cy="191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DF484-FF1F-AADC-DA20-E9ABB747C387}"/>
              </a:ext>
            </a:extLst>
          </p:cNvPr>
          <p:cNvSpPr txBox="1"/>
          <p:nvPr userDrawn="1"/>
        </p:nvSpPr>
        <p:spPr>
          <a:xfrm>
            <a:off x="145499" y="6536246"/>
            <a:ext cx="1767507" cy="257369"/>
          </a:xfrm>
          <a:prstGeom prst="rect">
            <a:avLst/>
          </a:prstGeom>
          <a:noFill/>
        </p:spPr>
        <p:txBody>
          <a:bodyPr wrap="square" lIns="35381" tIns="35381" rIns="35381" bIns="35381" rtlCol="0" anchor="ctr">
            <a:spAutoFit/>
          </a:bodyPr>
          <a:lstStyle/>
          <a:p>
            <a:pPr algn="l"/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전동화사업부</a:t>
            </a:r>
          </a:p>
        </p:txBody>
      </p:sp>
    </p:spTree>
    <p:extLst>
      <p:ext uri="{BB962C8B-B14F-4D97-AF65-F5344CB8AC3E}">
        <p14:creationId xmlns:p14="http://schemas.microsoft.com/office/powerpoint/2010/main" val="172891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8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51" r:id="rId2"/>
    <p:sldLayoutId id="2147483674" r:id="rId3"/>
    <p:sldLayoutId id="2147483676" r:id="rId4"/>
    <p:sldLayoutId id="2147483677" r:id="rId5"/>
    <p:sldLayoutId id="2147483679" r:id="rId6"/>
    <p:sldLayoutId id="2147483681" r:id="rId7"/>
    <p:sldLayoutId id="2147483735" r:id="rId8"/>
    <p:sldLayoutId id="2147483752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-192024"/>
            <a:ext cx="749808" cy="749808"/>
          </a:xfrm>
          <a:prstGeom prst="roundRect">
            <a:avLst>
              <a:gd name="adj" fmla="val 14560"/>
            </a:avLst>
          </a:prstGeom>
          <a:solidFill>
            <a:srgbClr val="0E5DB7"/>
          </a:solidFill>
          <a:ln w="6350">
            <a:solidFill>
              <a:srgbClr val="C3C9D5"/>
            </a:solidFill>
          </a:ln>
          <a:effectLst/>
        </p:spPr>
        <p:txBody>
          <a:bodyPr rtlCol="0" anchor="ctr" wrap="square" lIns="0" tIns="180136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" y="201168"/>
            <a:ext cx="827532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SW 개발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40080"/>
            <a:ext cx="11274552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설계자 질의·문서 자산화부터 사내 특화 LLM 까지, </a:t>
            </a:r>
            <a:r>
              <a:rPr sz="1600" b="1" i="0">
                <a:solidFill>
                  <a:srgbClr val="1F5FBF"/>
                </a:solidFill>
                <a:latin typeface="Noto Sans KR"/>
                <a:ea typeface="Noto Sans KR"/>
                <a:cs typeface="Noto Sans KR"/>
              </a:rPr>
              <a:t>6단계로 이어지는 LLM 개발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" y="1243584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0E5D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371600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08176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E5DB7"/>
                </a:solidFill>
                <a:latin typeface="Noto Sans KR"/>
                <a:ea typeface="Noto Sans KR"/>
                <a:cs typeface="Noto Sans KR"/>
              </a:rPr>
              <a:t>데이터 취득·자산화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9072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설계자 ↔ AI 질의응답</a:t>
            </a:r>
          </a:p>
        </p:txBody>
      </p:sp>
      <p:pic>
        <p:nvPicPr>
          <p:cNvPr id="10" name="Picture 9" descr="01_designer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84248"/>
            <a:ext cx="676656" cy="676656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1460754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6484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문서·코드 업로드</a:t>
            </a:r>
          </a:p>
        </p:txBody>
      </p:sp>
      <p:pic>
        <p:nvPicPr>
          <p:cNvPr id="13" name="Picture 12" descr="02_upload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228" y="1984248"/>
            <a:ext cx="676656" cy="676656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>
            <a:off x="2663190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데이터 자산화</a:t>
            </a:r>
          </a:p>
        </p:txBody>
      </p:sp>
      <p:pic>
        <p:nvPicPr>
          <p:cNvPr id="16" name="Picture 15" descr="03_knowledg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39" y="1965960"/>
            <a:ext cx="603504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52344" y="2587752"/>
            <a:ext cx="1225296" cy="1463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질문·답변, 문서,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2798064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설계자의 질의·답변과 문서·코드를 지식 단위로 쌓는 과정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1243584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0" y="1371600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408176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 정제·구조화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719072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정제·선별</a:t>
            </a:r>
          </a:p>
        </p:txBody>
      </p:sp>
      <p:pic>
        <p:nvPicPr>
          <p:cNvPr id="24" name="Picture 23" descr="04_refine_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84248"/>
            <a:ext cx="676656" cy="676656"/>
          </a:xfrm>
          <a:prstGeom prst="rect">
            <a:avLst/>
          </a:prstGeom>
        </p:spPr>
      </p:pic>
      <p:sp>
        <p:nvSpPr>
          <p:cNvPr id="25" name="Right Arrow 24"/>
          <p:cNvSpPr/>
          <p:nvPr/>
        </p:nvSpPr>
        <p:spPr>
          <a:xfrm>
            <a:off x="5392674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8404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AI 학습 형태로 변환</a:t>
            </a:r>
          </a:p>
        </p:txBody>
      </p:sp>
      <p:pic>
        <p:nvPicPr>
          <p:cNvPr id="27" name="Picture 26" descr="05_toke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148" y="1984248"/>
            <a:ext cx="676656" cy="676656"/>
          </a:xfrm>
          <a:prstGeom prst="rect">
            <a:avLst/>
          </a:prstGeom>
        </p:spPr>
      </p:pic>
      <p:sp>
        <p:nvSpPr>
          <p:cNvPr id="28" name="Right Arrow 27"/>
          <p:cNvSpPr/>
          <p:nvPr/>
        </p:nvSpPr>
        <p:spPr>
          <a:xfrm>
            <a:off x="6595109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학습 데이터</a:t>
            </a:r>
          </a:p>
        </p:txBody>
      </p:sp>
      <p:pic>
        <p:nvPicPr>
          <p:cNvPr id="30" name="Picture 29" descr="16_datas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583" y="1984248"/>
            <a:ext cx="676656" cy="6766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52544" y="2798064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중복·오류·민감정보를 걸러내 학습용 데이터로 바꾸는 단계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02168" y="1243584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0184" y="1371600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5944" y="1408176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사내 LLM 학습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0184" y="1719072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2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학습 데이터</a:t>
            </a:r>
          </a:p>
        </p:txBody>
      </p:sp>
      <p:pic>
        <p:nvPicPr>
          <p:cNvPr id="37" name="Picture 36" descr="16_datas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1984248"/>
            <a:ext cx="676656" cy="676656"/>
          </a:xfrm>
          <a:prstGeom prst="rect">
            <a:avLst/>
          </a:prstGeom>
        </p:spPr>
      </p:pic>
      <p:sp>
        <p:nvSpPr>
          <p:cNvPr id="38" name="Right Arrow 37"/>
          <p:cNvSpPr/>
          <p:nvPr/>
        </p:nvSpPr>
        <p:spPr>
          <a:xfrm>
            <a:off x="9333738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9468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범용 LLM</a:t>
            </a:r>
          </a:p>
        </p:txBody>
      </p:sp>
      <p:pic>
        <p:nvPicPr>
          <p:cNvPr id="40" name="Picture 39" descr="06_neural_gener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212" y="1984248"/>
            <a:ext cx="676656" cy="676656"/>
          </a:xfrm>
          <a:prstGeom prst="rect">
            <a:avLst/>
          </a:prstGeom>
        </p:spPr>
      </p:pic>
      <p:sp>
        <p:nvSpPr>
          <p:cNvPr id="41" name="Right Arrow 40"/>
          <p:cNvSpPr/>
          <p:nvPr/>
        </p:nvSpPr>
        <p:spPr>
          <a:xfrm>
            <a:off x="10536174" y="2221992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1904" y="1764792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사내 적응 LLM</a:t>
            </a:r>
          </a:p>
        </p:txBody>
      </p:sp>
      <p:pic>
        <p:nvPicPr>
          <p:cNvPr id="43" name="Picture 42" descr="07_neural_dom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9648" y="1984248"/>
            <a:ext cx="676656" cy="6766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93608" y="2798064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사내 데이터를 범용 모델에 학습시켜 사내 LLM 을 만드는 단계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" y="3145536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310128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피드백 고도화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621024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설계자 평가</a:t>
            </a:r>
          </a:p>
        </p:txBody>
      </p:sp>
      <p:pic>
        <p:nvPicPr>
          <p:cNvPr id="50" name="Picture 49" descr="09_feedb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3886200"/>
            <a:ext cx="676656" cy="676656"/>
          </a:xfrm>
          <a:prstGeom prst="rect">
            <a:avLst/>
          </a:prstGeom>
        </p:spPr>
      </p:pic>
      <p:sp>
        <p:nvSpPr>
          <p:cNvPr id="51" name="Right Arrow 50"/>
          <p:cNvSpPr/>
          <p:nvPr/>
        </p:nvSpPr>
        <p:spPr>
          <a:xfrm>
            <a:off x="1460754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6484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사내 적응 LLM</a:t>
            </a:r>
          </a:p>
        </p:txBody>
      </p:sp>
      <p:pic>
        <p:nvPicPr>
          <p:cNvPr id="53" name="Picture 52" descr="07_neural_dom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4228" y="3886200"/>
            <a:ext cx="676656" cy="676656"/>
          </a:xfrm>
          <a:prstGeom prst="rect">
            <a:avLst/>
          </a:prstGeom>
        </p:spPr>
      </p:pic>
      <p:sp>
        <p:nvSpPr>
          <p:cNvPr id="54" name="Right Arrow 53"/>
          <p:cNvSpPr/>
          <p:nvPr/>
        </p:nvSpPr>
        <p:spPr>
          <a:xfrm>
            <a:off x="2663190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88920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고도화 LLM</a:t>
            </a:r>
          </a:p>
        </p:txBody>
      </p:sp>
      <p:pic>
        <p:nvPicPr>
          <p:cNvPr id="56" name="Picture 55" descr="08_neural_advanc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6663" y="3886200"/>
            <a:ext cx="676656" cy="6766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20623" y="4700016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설계자의 채택·수정 평가를 재학습해 정확도를 높이는 단계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1104" y="3145536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89120" y="3273552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3310128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경량화·배포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3621024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15968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고도화 LLM</a:t>
            </a:r>
          </a:p>
        </p:txBody>
      </p:sp>
      <p:pic>
        <p:nvPicPr>
          <p:cNvPr id="63" name="Picture 62" descr="08_neural_advanc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712" y="3886200"/>
            <a:ext cx="676656" cy="676656"/>
          </a:xfrm>
          <a:prstGeom prst="rect">
            <a:avLst/>
          </a:prstGeom>
        </p:spPr>
      </p:pic>
      <p:sp>
        <p:nvSpPr>
          <p:cNvPr id="64" name="Right Arrow 63"/>
          <p:cNvSpPr/>
          <p:nvPr/>
        </p:nvSpPr>
        <p:spPr>
          <a:xfrm>
            <a:off x="5392674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18404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지식증류 &amp; 양자화</a:t>
            </a:r>
          </a:p>
        </p:txBody>
      </p:sp>
      <p:pic>
        <p:nvPicPr>
          <p:cNvPr id="66" name="Picture 65" descr="10_distill_quantiz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6148" y="3886200"/>
            <a:ext cx="676656" cy="676656"/>
          </a:xfrm>
          <a:prstGeom prst="rect">
            <a:avLst/>
          </a:prstGeom>
        </p:spPr>
      </p:pic>
      <p:sp>
        <p:nvSpPr>
          <p:cNvPr id="67" name="Right Arrow 66"/>
          <p:cNvSpPr/>
          <p:nvPr/>
        </p:nvSpPr>
        <p:spPr>
          <a:xfrm>
            <a:off x="6595109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40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사내 GPU 서버</a:t>
            </a:r>
          </a:p>
        </p:txBody>
      </p:sp>
      <p:pic>
        <p:nvPicPr>
          <p:cNvPr id="69" name="Picture 68" descr="11_gpu_serv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8583" y="3886200"/>
            <a:ext cx="676656" cy="67665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352544" y="4700016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압축한 모델을 사내 서버에 올려 다수 설계자가 함께 쓰는 단계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02168" y="3145536"/>
            <a:ext cx="3666744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330184" y="3273552"/>
            <a:ext cx="274320" cy="274320"/>
          </a:xfrm>
          <a:prstGeom prst="ellipse">
            <a:avLst/>
          </a:prstGeom>
          <a:solidFill>
            <a:srgbClr val="203768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95944" y="3310128"/>
            <a:ext cx="3044952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활용·재수집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30184" y="3621024"/>
            <a:ext cx="3410712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57032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통합플랫폼 (웹·IDE)</a:t>
            </a:r>
          </a:p>
        </p:txBody>
      </p:sp>
      <p:pic>
        <p:nvPicPr>
          <p:cNvPr id="76" name="Picture 75" descr="12_web_id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4776" y="3886200"/>
            <a:ext cx="676656" cy="676656"/>
          </a:xfrm>
          <a:prstGeom prst="rect">
            <a:avLst/>
          </a:prstGeom>
        </p:spPr>
      </p:pic>
      <p:sp>
        <p:nvSpPr>
          <p:cNvPr id="77" name="Right Arrow 76"/>
          <p:cNvSpPr/>
          <p:nvPr/>
        </p:nvSpPr>
        <p:spPr>
          <a:xfrm>
            <a:off x="9333738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59468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사내 LLM 답변</a:t>
            </a:r>
          </a:p>
        </p:txBody>
      </p:sp>
      <p:pic>
        <p:nvPicPr>
          <p:cNvPr id="79" name="Picture 78" descr="17_llm_answ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7212" y="3886200"/>
            <a:ext cx="676656" cy="676656"/>
          </a:xfrm>
          <a:prstGeom prst="rect">
            <a:avLst/>
          </a:prstGeom>
        </p:spPr>
      </p:pic>
      <p:sp>
        <p:nvSpPr>
          <p:cNvPr id="80" name="Right Arrow 79"/>
          <p:cNvSpPr/>
          <p:nvPr/>
        </p:nvSpPr>
        <p:spPr>
          <a:xfrm>
            <a:off x="10536174" y="4123944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661904" y="3666744"/>
            <a:ext cx="1152144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새 데이터 자산화</a:t>
            </a:r>
          </a:p>
        </p:txBody>
      </p:sp>
      <p:pic>
        <p:nvPicPr>
          <p:cNvPr id="82" name="Picture 81" descr="03_knowledge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3867912"/>
            <a:ext cx="603504" cy="60350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625328" y="4489704"/>
            <a:ext cx="1225296" cy="1463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질문·답변, 문서, 코드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93608" y="4700016"/>
            <a:ext cx="35295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플랫폼에서 답하며 생기는 새 데이터를 다시 자산으로 쌓는 단계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41648" y="2029968"/>
            <a:ext cx="18288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13484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82712" y="2029968"/>
            <a:ext cx="18288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13484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41648" y="3931920"/>
            <a:ext cx="18288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13484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82712" y="3931920"/>
            <a:ext cx="18288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13484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9" name="Freeform 88"/>
          <p:cNvSpPr/>
          <p:nvPr/>
        </p:nvSpPr>
        <p:spPr>
          <a:xfrm>
            <a:off x="201168" y="1161288"/>
            <a:ext cx="11795760" cy="2880360"/>
          </a:xfrm>
          <a:custGeom>
            <a:avLst/>
            <a:gdLst/>
            <a:ahLst/>
            <a:cxnLst/>
            <a:rect l="l" t="t" r="r" b="b"/>
            <a:pathLst>
              <a:path w="11795760" h="2880360">
                <a:moveTo>
                  <a:pt x="11667744" y="2880360"/>
                </a:moveTo>
                <a:lnTo>
                  <a:pt x="11795760" y="2880360"/>
                </a:lnTo>
                <a:lnTo>
                  <a:pt x="11795760" y="0"/>
                </a:lnTo>
                <a:lnTo>
                  <a:pt x="0" y="0"/>
                </a:lnTo>
                <a:lnTo>
                  <a:pt x="0" y="978408"/>
                </a:lnTo>
                <a:lnTo>
                  <a:pt x="128016" y="978408"/>
                </a:lnTo>
              </a:path>
            </a:pathLst>
          </a:custGeom>
          <a:noFill/>
          <a:ln w="15875">
            <a:solidFill>
              <a:srgbClr val="0E5DB7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66960" y="987552"/>
            <a:ext cx="2011680" cy="1554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0E5DB7"/>
                </a:solidFill>
                <a:latin typeface="Noto Sans KR"/>
                <a:ea typeface="Noto Sans KR"/>
                <a:cs typeface="Noto Sans KR"/>
              </a:rPr>
              <a:t>새 데이터 재수집 → 지속 학습</a:t>
            </a:r>
          </a:p>
        </p:txBody>
      </p:sp>
      <p:pic>
        <p:nvPicPr>
          <p:cNvPr id="91" name="Picture 90" descr="ca_web_assist_conv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184" y="5074920"/>
            <a:ext cx="1645920" cy="1028700"/>
          </a:xfrm>
          <a:prstGeom prst="rect">
            <a:avLst/>
          </a:prstGeom>
          <a:ln w="9525">
            <a:solidFill>
              <a:srgbClr val="A6CAEC"/>
            </a:solidFill>
          </a:ln>
        </p:spPr>
      </p:pic>
      <p:sp>
        <p:nvSpPr>
          <p:cNvPr id="92" name="TextBox 91"/>
          <p:cNvSpPr txBox="1"/>
          <p:nvPr/>
        </p:nvSpPr>
        <p:spPr>
          <a:xfrm>
            <a:off x="329184" y="6126480"/>
            <a:ext cx="1645920" cy="1463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SL SW Agent 웹 화면 (라이브)</a:t>
            </a:r>
          </a:p>
        </p:txBody>
      </p:sp>
      <p:sp>
        <p:nvSpPr>
          <p:cNvPr id="93" name="Bent Arrow 92"/>
          <p:cNvSpPr/>
          <p:nvPr/>
        </p:nvSpPr>
        <p:spPr>
          <a:xfrm flipV="1">
            <a:off x="2039112" y="5138928"/>
            <a:ext cx="3666744" cy="1033271"/>
          </a:xfrm>
          <a:prstGeom prst="bentArrow">
            <a:avLst>
              <a:gd name="adj1" fmla="val 30000"/>
              <a:gd name="adj2" fmla="val 25000"/>
              <a:gd name="adj3" fmla="val 25000"/>
              <a:gd name="adj4" fmla="val 36479"/>
            </a:avLst>
          </a:prstGeom>
          <a:solidFill>
            <a:srgbClr val="4C9BD6"/>
          </a:solidFill>
          <a:ln w="9525">
            <a:solidFill>
              <a:srgbClr val="C3C9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95728" y="5728716"/>
            <a:ext cx="306324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데이터 기반 지속 학습으로 상용 LLM 의존 축소,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SL 특화 LLM 완성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35624" y="5047488"/>
            <a:ext cx="5715000" cy="1737360"/>
          </a:xfrm>
          <a:prstGeom prst="roundRect">
            <a:avLst>
              <a:gd name="adj" fmla="val 3500"/>
            </a:avLst>
          </a:prstGeom>
          <a:solidFill>
            <a:srgbClr val="E6EBF3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72784" y="5175503"/>
            <a:ext cx="3291840" cy="21031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SW 설계 지원 서비스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56064" y="5193792"/>
            <a:ext cx="2057400" cy="1920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통합플랫폼 (SL SW Agent)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63640" y="5477255"/>
            <a:ext cx="5458968" cy="969264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A6CA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391655" y="5550407"/>
            <a:ext cx="1685543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13_doc_g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5664" y="5724144"/>
            <a:ext cx="457200" cy="4572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958583" y="5596127"/>
            <a:ext cx="1100327" cy="2011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문서 생성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58583" y="5806440"/>
            <a:ext cx="1118615" cy="51206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자산: 소스코드·설계문서</a:t>
            </a:r>
          </a:p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활용: SAD·SDD 자동 작성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7994903" y="5870448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150351" y="5550407"/>
            <a:ext cx="1685543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14_code_ge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4359" y="5724144"/>
            <a:ext cx="457200" cy="4572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717280" y="5596127"/>
            <a:ext cx="1100327" cy="2011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코드 생성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17280" y="5806440"/>
            <a:ext cx="1118615" cy="51206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자산: 질의·답변·사내 코드</a:t>
            </a:r>
          </a:p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활용: 코드 작성·질의응답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9753600" y="5870448"/>
            <a:ext cx="201168" cy="192024"/>
          </a:xfrm>
          <a:prstGeom prst="rightArrow">
            <a:avLst/>
          </a:prstGeom>
          <a:solidFill>
            <a:srgbClr val="B9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909047" y="5550407"/>
            <a:ext cx="1685543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6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15_static_che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3055" y="5724144"/>
            <a:ext cx="457200" cy="4572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0475975" y="5596127"/>
            <a:ext cx="1100327" cy="2011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1761"/>
                </a:solidFill>
                <a:latin typeface="Noto Sans KR"/>
                <a:ea typeface="Noto Sans KR"/>
                <a:cs typeface="Noto Sans KR"/>
              </a:rPr>
              <a:t>정적 검증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75975" y="5806440"/>
            <a:ext cx="1118615" cy="51206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자산: 위배 사례·수정안</a:t>
            </a:r>
          </a:p>
          <a:p>
            <a:pPr algn="l"/>
            <a:r>
              <a:rPr sz="72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활용: 코딩 규칙 검사·수정안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3640" y="6492240"/>
            <a:ext cx="5458968" cy="17373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860" b="0" i="0">
                <a:solidFill>
                  <a:srgbClr val="202020"/>
                </a:solidFill>
                <a:latin typeface="Noto Sans KR"/>
                <a:ea typeface="Noto Sans KR"/>
                <a:cs typeface="Noto Sans KR"/>
              </a:rPr>
              <a:t>세 서비스가 한 플랫폼에서 지식 자산과 LLM 을 공유. 정적 검증 → 문서 생성 → 코드 생성 순으로 사내 LLM 비중 확대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9184" y="6382512"/>
            <a:ext cx="57607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680" b="0" i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LLM(Large Language Model): 대규모 언어 모델 · 지식증류: 고성능 AI 답변으로 소형 AI 를 학습시키는 기법 · 양자화: 모델 압축 기법</a:t>
            </a:r>
          </a:p>
          <a:p>
            <a:pPr algn="l"/>
            <a:r>
              <a:rPr sz="680" b="0" i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SAD·SDD: SW 아키텍처·상세 설계 문서 · MISRA(Motor Industry Software Reliability Association): 차량용 C 코딩 규칙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-192024"/>
            <a:ext cx="749808" cy="749808"/>
          </a:xfrm>
          <a:prstGeom prst="roundRect">
            <a:avLst>
              <a:gd name="adj" fmla="val 14560"/>
            </a:avLst>
          </a:prstGeom>
          <a:solidFill>
            <a:srgbClr val="0E5DB7"/>
          </a:solidFill>
          <a:ln w="6350">
            <a:solidFill>
              <a:srgbClr val="C3C9D5"/>
            </a:solidFill>
          </a:ln>
          <a:effectLst/>
        </p:spPr>
        <p:txBody>
          <a:bodyPr rtlCol="0" anchor="ctr" wrap="square" lIns="0" tIns="180136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" y="201168"/>
            <a:ext cx="827532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SW 개발 AI — 예상 질의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40080"/>
            <a:ext cx="11274552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임원 보고 시 나올 수 있는 질문과 핵심 답변·근거 </a:t>
            </a:r>
            <a:r>
              <a:rPr sz="1600" b="1" i="0">
                <a:solidFill>
                  <a:srgbClr val="1F5FBF"/>
                </a:solidFill>
                <a:latin typeface="Noto Sans KR"/>
                <a:ea typeface="Noto Sans KR"/>
                <a:cs typeface="Noto Sans KR"/>
              </a:rPr>
              <a:t>(팀장 대응용)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9184" y="1243584"/>
          <a:ext cx="11539728" cy="4882896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6172200"/>
                <a:gridCol w="303580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예상 질문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2037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답변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2037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· 비고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2037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Q1. 데이터는 지금 얼마나 확보돼 있나?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사내 코드 약 25만 조각(약 2천만 토큰) 확보. 설계자 질의·답변은 약 100건으로 아직 미미 → 플랫폼 오픈(2027.1) 후 본격 축적.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2026.07 실측. 데이터 취득이 현재 가장 부족한 역량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Q2. 데이터 취득은 어떻게 늘리나?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설계자가 상용 LLM 을 쓰는 순간 질문·답변·평가(채택/수정)가 자동 기록되고, 업로드 문서·코드는 자동 자산화. 대화를 지식 단위(질답·결정·패턴·주의점 등 7종)로 추출하는 기능 구현 완료.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기록·피드백 기능 구축 2026.07, 지식 추출 파이프라인 구현 2026.07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Q3. 서버 스펙과 비용은?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Dell R770 2대: GPU RTX PRO 6000 96GB 총 3장(VRAM 288GB), 메모리 256GB·512GB, SSD 3.84TB×2·7.68TB×2. 2대 합계 약 8,000만원. 1대 서비스(추론), 1대 학습·실험.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(주)아이웍스 도입, 2026.08 확정 스펙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Q4. 학습에 얼마나 걸리나?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 모델 실측: 3.5만 건 4회 반복 학습에 약 2시간(GPU 1장, 메모리 52GB). 30B급 사내 특화 학습(2천만 토큰·3회 반복)은 GPU 1장 기준 하루 안팎으로 추정. 병목은 학습 시간이 아니라 학습 데이터 확보.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 2026.07 학습 기록 / 30B급은 추정치(완료된 학습 이력 없음)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Q5. 사내 LLM 이 상용 수준이 되나?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15종 이상 실서버 실측 결과 96GB GPU 로는 30B급이 현실적 상한이며 상용 프론티어 대비 성능 격차 존재. 초기는 상용 중심, 데이터 축적 후 지식증류로 격차를 좁혀 쉬운 영역(정적 검증→문서 생성)부터 병행.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 2026.06~07. 현재 사내 모델은 코드 검색·분석 서술 등 한정 용도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Q6. 상용 LLM 비용은?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코딩 지원·정적 검증 리뷰 인당 월 약 1.5만원, 프로젝트 심층 분석 건당 약 15만원(38만 줄 기준), 문서 생성은 구독형 경로 사용. 사내 LLM 병행 시 단계적으로 절감.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2026.03 계획서 단가(Enterprise API 기준)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Q7. 최상위 모델을 자체 서버에 올리면?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최상위 오픈 모델(Kimi K3) 기준 GPU 약 20장 ≈ 3.7억원, 서버 4~5대. 보유 GPU 는 카드 간 고속 연결(NVLink) 미지원이라 데이터센터급 장비가 별도 필요 → 현 예산에선 비현실적.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2026.07 산정(RTX PRO 6000 1,850만원/장)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Q8. 사내 코드가 외부로 나가지 않나?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사내 코드를 외부 학습 서비스로 보내는 경로는 기본 차단(보안 게이트). 상용 LLM 은 기업용 계약 경로로만 사용, 사내 LLM 학습·추론은 사내 서버 안에서 처리. 상용 답변의 학습 활용은 약관 확인 병행.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보안 게이트 구현 2026.06, 법무 확인 권고 2026.07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Q9. 일정은?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2026.12 테스터 기반 1차 통합 구축 → 2027.1 중순 SW 설계자 오픈 → 2027.1 부터 축적 데이터로 사내 LLM 1차 학습 착수.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2026.07 확정 로드맵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037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Q10. 기대 효과는?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문서(SAD·SDD) 작성 공수 80% 이상 절감 목표(컴포넌트 1개 문서 약 50분 자동 생성), 2,040개 파일 정적 검증 35분 완주, 신규 인력 숙련 시간 단축.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목표치 2026.03 계획서 / 소요 시간은 실측</a:t>
                      </a:r>
                    </a:p>
                  </a:txBody>
                  <a:tcPr marL="73152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A6CAEC"/>
                      </a:solidFill>
                    </a:lnT>
                    <a:lnB w="6350">
                      <a:solidFill>
                        <a:srgbClr val="A6CAEC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9184" y="6419088"/>
            <a:ext cx="115214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'추정' 표기가 없는 수치는 실측·확정값.  지식증류: 고성능 AI 의 답변으로 소형 AI 를 학습시키는 기법  ·  토큰: AI 가 글을 처리하는 최소 단위(한글 약 1~2자)  ·  30B: 모델 크기(매개변수 300억 개)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SAD(Software Architecture Design Specification)·SDD(Software Detailed Design Specification): SW 아키텍처·상세 설계 문서  ·  NVLink: GPU 간 고속 직결 연결  ·  MISRA(Motor Industry Software Reliability Association): 차량용 C 코딩 규칙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bd9689-9d27-4751-8a97-b724f7a33b0f" xsi:nil="true"/>
    <lcf76f155ced4ddcb4097134ff3c332f xmlns="9859b8a9-7f3a-4873-ad50-d1d9d02f935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4E366D71E8784B8283C5D97D523A06" ma:contentTypeVersion="15" ma:contentTypeDescription="새 문서를 만듭니다." ma:contentTypeScope="" ma:versionID="0da1c06e4d5e251f6d20b43d3f64139c">
  <xsd:schema xmlns:xsd="http://www.w3.org/2001/XMLSchema" xmlns:xs="http://www.w3.org/2001/XMLSchema" xmlns:p="http://schemas.microsoft.com/office/2006/metadata/properties" xmlns:ns2="9859b8a9-7f3a-4873-ad50-d1d9d02f9359" xmlns:ns3="6bbd9689-9d27-4751-8a97-b724f7a33b0f" targetNamespace="http://schemas.microsoft.com/office/2006/metadata/properties" ma:root="true" ma:fieldsID="fa2ad5956fa6659aab98342eed9ed421" ns2:_="" ns3:_="">
    <xsd:import namespace="9859b8a9-7f3a-4873-ad50-d1d9d02f9359"/>
    <xsd:import namespace="6bbd9689-9d27-4751-8a97-b724f7a33b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59b8a9-7f3a-4873-ad50-d1d9d02f93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091437b-2ef1-4d11-9086-0c605ce274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bd9689-9d27-4751-8a97-b724f7a33b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8f080c-18f9-445c-9d0d-19f2e088613f}" ma:internalName="TaxCatchAll" ma:showField="CatchAllData" ma:web="6bbd9689-9d27-4751-8a97-b724f7a33b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D75114-295B-4A5A-A762-F8161384E795}">
  <ds:schemaRefs>
    <ds:schemaRef ds:uri="http://schemas.microsoft.com/office/infopath/2007/PartnerControls"/>
    <ds:schemaRef ds:uri="6bbd9689-9d27-4751-8a97-b724f7a33b0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9859b8a9-7f3a-4873-ad50-d1d9d02f9359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FE005BD-9283-419B-B119-5251DA539FD5}">
  <ds:schemaRefs>
    <ds:schemaRef ds:uri="6bbd9689-9d27-4751-8a97-b724f7a33b0f"/>
    <ds:schemaRef ds:uri="9859b8a9-7f3a-4873-ad50-d1d9d02f93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08CDC8-C3DE-400D-ABBC-7823946DD97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6898</TotalTime>
  <Words>3709</Words>
  <Application>Microsoft Office PowerPoint</Application>
  <PresentationFormat>와이드스크린</PresentationFormat>
  <Paragraphs>1073</Paragraphs>
  <Slides>16</Slides>
  <Notes>4</Notes>
  <HiddenSlides>0</HiddenSlides>
  <MMClips>14</MMClips>
  <ScaleCrop>false</ScaleCrop>
  <HeadingPairs>
    <vt:vector size="10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  <vt:variant>
        <vt:lpstr>재구성한 쇼</vt:lpstr>
      </vt:variant>
      <vt:variant>
        <vt:i4>2</vt:i4>
      </vt:variant>
    </vt:vector>
  </HeadingPairs>
  <TitlesOfParts>
    <vt:vector size="35" baseType="lpstr">
      <vt:lpstr>Microsoft GothicNeo</vt:lpstr>
      <vt:lpstr>Microsoft GothicNeo Light</vt:lpstr>
      <vt:lpstr>Noto Sans KR</vt:lpstr>
      <vt:lpstr>Noto Sans KR Light</vt:lpstr>
      <vt:lpstr>Pretendard</vt:lpstr>
      <vt:lpstr>맑은 고딕</vt:lpstr>
      <vt:lpstr>맑은 고딕</vt:lpstr>
      <vt:lpstr>휴먼모음T</vt:lpstr>
      <vt:lpstr>Aptos</vt:lpstr>
      <vt:lpstr>Aptos Display</vt:lpstr>
      <vt:lpstr>Arial</vt:lpstr>
      <vt:lpstr>Calibri</vt:lpstr>
      <vt:lpstr>Cambria</vt:lpstr>
      <vt:lpstr>Wingdings</vt:lpstr>
      <vt:lpstr>현대하모니 M</vt:lpstr>
      <vt:lpstr>Office 테마</vt:lpstr>
      <vt:lpstr>Presentation</vt:lpstr>
      <vt:lpstr>로보틱스 비즈니스 방향성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1.고객NDA관리체계</vt:lpstr>
      <vt:lpstr>2.로봇대외소통운영체계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Jeongmin Ma(마정민)[Actuating Control Engineering 2 Team]</dc:creator>
  <cp:lastModifiedBy>Jihoon Yang(양지훈)[Robotics Lab]</cp:lastModifiedBy>
  <cp:revision>570</cp:revision>
  <cp:lastPrinted>2026-07-24T09:05:57Z</cp:lastPrinted>
  <dcterms:created xsi:type="dcterms:W3CDTF">2025-04-23T01:17:11Z</dcterms:created>
  <dcterms:modified xsi:type="dcterms:W3CDTF">2026-09-02T05:28:14Z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0x010100454E366D71E8784B8283C5D97D523A06</vt:lpwstr>
  </property>
  <property fmtid="{D5CDD505-2E9C-101B-9397-08002B2CF9AE}" pid="3" name="MediaServiceImageTags">
    <vt:lpwstr/>
  </property>
</Properties>
</file>